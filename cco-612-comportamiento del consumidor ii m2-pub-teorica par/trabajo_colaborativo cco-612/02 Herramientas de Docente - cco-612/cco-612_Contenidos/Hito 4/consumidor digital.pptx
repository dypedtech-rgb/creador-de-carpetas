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QsJ/LqmoSJhCJpx05ks78ize5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86D8C9-2587-4723-BB1F-3E9FBFEF1CB5}">
  <a:tblStyle styleId="{F186D8C9-2587-4723-BB1F-3E9FBFEF1C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6932" y="1748596"/>
            <a:ext cx="4525851" cy="29809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5700145" y="1155734"/>
            <a:ext cx="1313645" cy="60016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Importancia de la informática en la mercadotecnia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592859" y="2036131"/>
            <a:ext cx="1313645" cy="7694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Sistemas de información de gestión organizacional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178114" y="4038909"/>
            <a:ext cx="1313645" cy="60016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Conceptos fundamentales de mercadotecnia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4389344" y="4586015"/>
            <a:ext cx="1313645" cy="7694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Sistemas de información de mercadotecnia (CRM)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2423718" y="4555379"/>
            <a:ext cx="1313645" cy="60016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Sistemas de apoyo a las decisiones (SAD)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009286" y="2511102"/>
            <a:ext cx="1313645" cy="60016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Herramientas de BI para la toma de decisiones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108899" y="1560688"/>
            <a:ext cx="1313645" cy="4308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La mercadotecnia y la internet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5490919" y="924705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7421745" y="1790383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2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152985" y="3774257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2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288486" y="4371401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2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2214640" y="4407390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2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776919" y="2224693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2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2796018" y="1299078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i="0" sz="2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690226" y="356236"/>
            <a:ext cx="69923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1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Mercado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7187743" y="861095"/>
            <a:ext cx="104868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Mercadotecnia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9212133" y="534520"/>
            <a:ext cx="166263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Mezcla de Mercadotecnia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8792092" y="1581798"/>
            <a:ext cx="15856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Sistemas de información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9294420" y="2169468"/>
            <a:ext cx="98296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9048083" y="2634650"/>
            <a:ext cx="151195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Análisis de información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7623862" y="4763816"/>
            <a:ext cx="59503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Deseos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7932125" y="5056262"/>
            <a:ext cx="9028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Necesidades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8269950" y="5493393"/>
            <a:ext cx="122180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Oferta y demanda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8359718" y="6093874"/>
            <a:ext cx="113204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Posicionamiento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9730639" y="5026150"/>
            <a:ext cx="115779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Comportamiento del consumidor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9621435" y="3721949"/>
            <a:ext cx="7072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10454213" y="4278103"/>
            <a:ext cx="47961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Plaza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10135457" y="4021366"/>
            <a:ext cx="54213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Precio</a:t>
            </a:r>
            <a:endParaRPr/>
          </a:p>
        </p:txBody>
      </p:sp>
      <p:sp>
        <p:nvSpPr>
          <p:cNvPr id="113" name="Google Shape;113;p1"/>
          <p:cNvSpPr txBox="1"/>
          <p:nvPr/>
        </p:nvSpPr>
        <p:spPr>
          <a:xfrm>
            <a:off x="10505033" y="4593851"/>
            <a:ext cx="80502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Promoción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5179873" y="3501668"/>
            <a:ext cx="146546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Responsabilidad social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4643651" y="5608954"/>
            <a:ext cx="40427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5247147" y="5608954"/>
            <a:ext cx="45717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CRM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4375210" y="5923402"/>
            <a:ext cx="170271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Investigación de mercados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4131712" y="6255079"/>
            <a:ext cx="78899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Cualitativa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5246766" y="6289827"/>
            <a:ext cx="87716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Cuantitativa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2412052" y="5590230"/>
            <a:ext cx="119446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Toma de decisiones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424385" y="2579563"/>
            <a:ext cx="13692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Business Intelligence</a:t>
            </a:r>
            <a:endParaRPr sz="11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873007" y="2896260"/>
            <a:ext cx="72808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Datamart</a:t>
            </a:r>
            <a:endParaRPr sz="11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1790983" y="3603348"/>
            <a:ext cx="108715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Datawarehouse</a:t>
            </a:r>
            <a:endParaRPr sz="11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1135504" y="3226548"/>
            <a:ext cx="84189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Datamining</a:t>
            </a:r>
            <a:endParaRPr sz="11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817547" y="4144290"/>
            <a:ext cx="97815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/>
          </a:p>
        </p:txBody>
      </p:sp>
      <p:sp>
        <p:nvSpPr>
          <p:cNvPr id="126" name="Google Shape;126;p1"/>
          <p:cNvSpPr txBox="1"/>
          <p:nvPr/>
        </p:nvSpPr>
        <p:spPr>
          <a:xfrm>
            <a:off x="1991477" y="4177010"/>
            <a:ext cx="47801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OLPT</a:t>
            </a:r>
            <a:endParaRPr/>
          </a:p>
        </p:txBody>
      </p:sp>
      <p:sp>
        <p:nvSpPr>
          <p:cNvPr id="127" name="Google Shape;127;p1"/>
          <p:cNvSpPr txBox="1"/>
          <p:nvPr/>
        </p:nvSpPr>
        <p:spPr>
          <a:xfrm>
            <a:off x="2299032" y="3945074"/>
            <a:ext cx="49084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OLAP</a:t>
            </a:r>
            <a:endParaRPr/>
          </a:p>
        </p:txBody>
      </p:sp>
      <p:sp>
        <p:nvSpPr>
          <p:cNvPr id="128" name="Google Shape;128;p1"/>
          <p:cNvSpPr txBox="1"/>
          <p:nvPr/>
        </p:nvSpPr>
        <p:spPr>
          <a:xfrm>
            <a:off x="2214640" y="878186"/>
            <a:ext cx="126028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Nuevas tendencias</a:t>
            </a:r>
            <a:endParaRPr/>
          </a:p>
        </p:txBody>
      </p:sp>
      <p:sp>
        <p:nvSpPr>
          <p:cNvPr id="129" name="Google Shape;129;p1"/>
          <p:cNvSpPr txBox="1"/>
          <p:nvPr/>
        </p:nvSpPr>
        <p:spPr>
          <a:xfrm>
            <a:off x="1973462" y="1409257"/>
            <a:ext cx="65114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130" name="Google Shape;130;p1"/>
          <p:cNvCxnSpPr>
            <a:stCxn id="85" idx="0"/>
          </p:cNvCxnSpPr>
          <p:nvPr/>
        </p:nvCxnSpPr>
        <p:spPr>
          <a:xfrm rot="-5400000">
            <a:off x="6329068" y="562334"/>
            <a:ext cx="621300" cy="565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" name="Google Shape;131;p1"/>
          <p:cNvCxnSpPr>
            <a:stCxn id="85" idx="0"/>
            <a:endCxn id="100" idx="1"/>
          </p:cNvCxnSpPr>
          <p:nvPr/>
        </p:nvCxnSpPr>
        <p:spPr>
          <a:xfrm rot="-5400000">
            <a:off x="6690418" y="658484"/>
            <a:ext cx="163800" cy="8307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" name="Google Shape;132;p1"/>
          <p:cNvCxnSpPr>
            <a:stCxn id="100" idx="0"/>
            <a:endCxn id="101" idx="1"/>
          </p:cNvCxnSpPr>
          <p:nvPr/>
        </p:nvCxnSpPr>
        <p:spPr>
          <a:xfrm rot="-5400000">
            <a:off x="8364136" y="13145"/>
            <a:ext cx="195900" cy="15000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" name="Google Shape;133;p1"/>
          <p:cNvCxnSpPr>
            <a:stCxn id="99" idx="3"/>
            <a:endCxn id="101" idx="1"/>
          </p:cNvCxnSpPr>
          <p:nvPr/>
        </p:nvCxnSpPr>
        <p:spPr>
          <a:xfrm>
            <a:off x="7389456" y="487041"/>
            <a:ext cx="1822800" cy="178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" name="Google Shape;134;p1"/>
          <p:cNvCxnSpPr/>
          <p:nvPr/>
        </p:nvCxnSpPr>
        <p:spPr>
          <a:xfrm flipH="1" rot="10800000">
            <a:off x="6274225" y="2059068"/>
            <a:ext cx="1261200" cy="110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5" name="Google Shape;135;p1"/>
          <p:cNvCxnSpPr>
            <a:stCxn id="86" idx="0"/>
            <a:endCxn id="102" idx="1"/>
          </p:cNvCxnSpPr>
          <p:nvPr/>
        </p:nvCxnSpPr>
        <p:spPr>
          <a:xfrm rot="-5400000">
            <a:off x="8359182" y="1603231"/>
            <a:ext cx="323400" cy="5424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6" name="Google Shape;136;p1"/>
          <p:cNvCxnSpPr>
            <a:stCxn id="102" idx="2"/>
            <a:endCxn id="103" idx="1"/>
          </p:cNvCxnSpPr>
          <p:nvPr/>
        </p:nvCxnSpPr>
        <p:spPr>
          <a:xfrm rot="5400000">
            <a:off x="9211287" y="1926658"/>
            <a:ext cx="456900" cy="290400"/>
          </a:xfrm>
          <a:prstGeom prst="curvedConnector4">
            <a:avLst>
              <a:gd fmla="val 35682" name="adj1"/>
              <a:gd fmla="val 178759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7" name="Google Shape;137;p1"/>
          <p:cNvCxnSpPr>
            <a:stCxn id="103" idx="2"/>
            <a:endCxn id="104" idx="0"/>
          </p:cNvCxnSpPr>
          <p:nvPr/>
        </p:nvCxnSpPr>
        <p:spPr>
          <a:xfrm flipH="1" rot="-5400000">
            <a:off x="9693201" y="2523778"/>
            <a:ext cx="203700" cy="18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8" name="Google Shape;138;p1"/>
          <p:cNvCxnSpPr/>
          <p:nvPr/>
        </p:nvCxnSpPr>
        <p:spPr>
          <a:xfrm flipH="1">
            <a:off x="8062137" y="4668999"/>
            <a:ext cx="772800" cy="186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" name="Google Shape;139;p1"/>
          <p:cNvCxnSpPr>
            <a:stCxn id="87" idx="2"/>
          </p:cNvCxnSpPr>
          <p:nvPr/>
        </p:nvCxnSpPr>
        <p:spPr>
          <a:xfrm rot="5400000">
            <a:off x="8459337" y="4700573"/>
            <a:ext cx="437100" cy="314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0" name="Google Shape;140;p1"/>
          <p:cNvCxnSpPr>
            <a:stCxn id="105" idx="1"/>
            <a:endCxn id="107" idx="1"/>
          </p:cNvCxnSpPr>
          <p:nvPr/>
        </p:nvCxnSpPr>
        <p:spPr>
          <a:xfrm>
            <a:off x="7623862" y="4894621"/>
            <a:ext cx="646200" cy="729600"/>
          </a:xfrm>
          <a:prstGeom prst="curvedConnector3">
            <a:avLst>
              <a:gd fmla="val -35376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" name="Google Shape;141;p1"/>
          <p:cNvCxnSpPr>
            <a:stCxn id="106" idx="3"/>
            <a:endCxn id="107" idx="0"/>
          </p:cNvCxnSpPr>
          <p:nvPr/>
        </p:nvCxnSpPr>
        <p:spPr>
          <a:xfrm>
            <a:off x="8834936" y="5187067"/>
            <a:ext cx="45900" cy="3063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" name="Google Shape;142;p1"/>
          <p:cNvCxnSpPr>
            <a:stCxn id="107" idx="2"/>
            <a:endCxn id="108" idx="0"/>
          </p:cNvCxnSpPr>
          <p:nvPr/>
        </p:nvCxnSpPr>
        <p:spPr>
          <a:xfrm flipH="1" rot="-5400000">
            <a:off x="8733855" y="5902003"/>
            <a:ext cx="339000" cy="45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3" name="Google Shape;143;p1"/>
          <p:cNvCxnSpPr>
            <a:stCxn id="110" idx="3"/>
            <a:endCxn id="112" idx="3"/>
          </p:cNvCxnSpPr>
          <p:nvPr/>
        </p:nvCxnSpPr>
        <p:spPr>
          <a:xfrm>
            <a:off x="10328680" y="3852754"/>
            <a:ext cx="348900" cy="299400"/>
          </a:xfrm>
          <a:prstGeom prst="curvedConnector3">
            <a:avLst>
              <a:gd fmla="val 165524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" name="Google Shape;144;p1"/>
          <p:cNvCxnSpPr>
            <a:endCxn id="111" idx="3"/>
          </p:cNvCxnSpPr>
          <p:nvPr/>
        </p:nvCxnSpPr>
        <p:spPr>
          <a:xfrm flipH="1" rot="-5400000">
            <a:off x="10710181" y="4185258"/>
            <a:ext cx="261000" cy="186300"/>
          </a:xfrm>
          <a:prstGeom prst="curvedConnector4">
            <a:avLst>
              <a:gd fmla="val 24915" name="adj1"/>
              <a:gd fmla="val 222705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" name="Google Shape;145;p1"/>
          <p:cNvCxnSpPr/>
          <p:nvPr/>
        </p:nvCxnSpPr>
        <p:spPr>
          <a:xfrm flipH="1" rot="-5400000">
            <a:off x="10974377" y="4444740"/>
            <a:ext cx="261000" cy="186300"/>
          </a:xfrm>
          <a:prstGeom prst="curvedConnector4">
            <a:avLst>
              <a:gd fmla="val 24968" name="adj1"/>
              <a:gd fmla="val 222656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" name="Google Shape;146;p1"/>
          <p:cNvCxnSpPr>
            <a:stCxn id="101" idx="3"/>
            <a:endCxn id="110" idx="3"/>
          </p:cNvCxnSpPr>
          <p:nvPr/>
        </p:nvCxnSpPr>
        <p:spPr>
          <a:xfrm flipH="1">
            <a:off x="10328768" y="665325"/>
            <a:ext cx="546000" cy="3187500"/>
          </a:xfrm>
          <a:prstGeom prst="curvedConnector3">
            <a:avLst>
              <a:gd fmla="val -41868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" name="Google Shape;147;p1"/>
          <p:cNvCxnSpPr>
            <a:stCxn id="104" idx="2"/>
            <a:endCxn id="110" idx="1"/>
          </p:cNvCxnSpPr>
          <p:nvPr/>
        </p:nvCxnSpPr>
        <p:spPr>
          <a:xfrm rot="5400000">
            <a:off x="9234509" y="3283110"/>
            <a:ext cx="956400" cy="182700"/>
          </a:xfrm>
          <a:prstGeom prst="curvedConnector4">
            <a:avLst>
              <a:gd fmla="val 43166" name="adj1"/>
              <a:gd fmla="val 22508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" name="Google Shape;148;p1"/>
          <p:cNvCxnSpPr>
            <a:stCxn id="113" idx="2"/>
            <a:endCxn id="109" idx="0"/>
          </p:cNvCxnSpPr>
          <p:nvPr/>
        </p:nvCxnSpPr>
        <p:spPr>
          <a:xfrm rot="5400000">
            <a:off x="10523248" y="4641861"/>
            <a:ext cx="170700" cy="597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" name="Google Shape;149;p1"/>
          <p:cNvCxnSpPr>
            <a:stCxn id="109" idx="2"/>
            <a:endCxn id="108" idx="0"/>
          </p:cNvCxnSpPr>
          <p:nvPr/>
        </p:nvCxnSpPr>
        <p:spPr>
          <a:xfrm rot="5400000">
            <a:off x="9299137" y="5083537"/>
            <a:ext cx="636900" cy="1383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" name="Google Shape;150;p1"/>
          <p:cNvCxnSpPr>
            <a:stCxn id="108" idx="2"/>
            <a:endCxn id="114" idx="2"/>
          </p:cNvCxnSpPr>
          <p:nvPr/>
        </p:nvCxnSpPr>
        <p:spPr>
          <a:xfrm flipH="1" rot="5400000">
            <a:off x="6122988" y="3552734"/>
            <a:ext cx="2592300" cy="3013200"/>
          </a:xfrm>
          <a:prstGeom prst="curvedConnector3">
            <a:avLst>
              <a:gd fmla="val -8819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" name="Google Shape;151;p1"/>
          <p:cNvCxnSpPr>
            <a:endCxn id="88" idx="0"/>
          </p:cNvCxnSpPr>
          <p:nvPr/>
        </p:nvCxnSpPr>
        <p:spPr>
          <a:xfrm rot="5400000">
            <a:off x="4953767" y="4198415"/>
            <a:ext cx="480000" cy="295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1"/>
          <p:cNvCxnSpPr>
            <a:endCxn id="115" idx="0"/>
          </p:cNvCxnSpPr>
          <p:nvPr/>
        </p:nvCxnSpPr>
        <p:spPr>
          <a:xfrm rot="5400000">
            <a:off x="4819240" y="5382004"/>
            <a:ext cx="253500" cy="200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" name="Google Shape;153;p1"/>
          <p:cNvCxnSpPr>
            <a:endCxn id="116" idx="0"/>
          </p:cNvCxnSpPr>
          <p:nvPr/>
        </p:nvCxnSpPr>
        <p:spPr>
          <a:xfrm>
            <a:off x="5046135" y="5355454"/>
            <a:ext cx="429600" cy="2535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" name="Google Shape;154;p1"/>
          <p:cNvCxnSpPr>
            <a:endCxn id="117" idx="0"/>
          </p:cNvCxnSpPr>
          <p:nvPr/>
        </p:nvCxnSpPr>
        <p:spPr>
          <a:xfrm flipH="1" rot="-5400000">
            <a:off x="4852465" y="5549302"/>
            <a:ext cx="567900" cy="18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" name="Google Shape;155;p1"/>
          <p:cNvCxnSpPr>
            <a:stCxn id="117" idx="2"/>
            <a:endCxn id="118" idx="0"/>
          </p:cNvCxnSpPr>
          <p:nvPr/>
        </p:nvCxnSpPr>
        <p:spPr>
          <a:xfrm rot="5400000">
            <a:off x="4841215" y="5869862"/>
            <a:ext cx="70200" cy="700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" name="Google Shape;156;p1"/>
          <p:cNvCxnSpPr>
            <a:stCxn id="117" idx="2"/>
          </p:cNvCxnSpPr>
          <p:nvPr/>
        </p:nvCxnSpPr>
        <p:spPr>
          <a:xfrm flipH="1" rot="-5400000">
            <a:off x="5420065" y="5991512"/>
            <a:ext cx="86700" cy="4737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" name="Google Shape;157;p1"/>
          <p:cNvCxnSpPr>
            <a:endCxn id="89" idx="0"/>
          </p:cNvCxnSpPr>
          <p:nvPr/>
        </p:nvCxnSpPr>
        <p:spPr>
          <a:xfrm flipH="1">
            <a:off x="3080541" y="4105979"/>
            <a:ext cx="2260800" cy="4494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" name="Google Shape;158;p1"/>
          <p:cNvCxnSpPr>
            <a:endCxn id="120" idx="0"/>
          </p:cNvCxnSpPr>
          <p:nvPr/>
        </p:nvCxnSpPr>
        <p:spPr>
          <a:xfrm rot="5400000">
            <a:off x="2798232" y="5366580"/>
            <a:ext cx="434700" cy="12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" name="Google Shape;159;p1"/>
          <p:cNvCxnSpPr>
            <a:stCxn id="117" idx="1"/>
            <a:endCxn id="120" idx="3"/>
          </p:cNvCxnSpPr>
          <p:nvPr/>
        </p:nvCxnSpPr>
        <p:spPr>
          <a:xfrm rot="10800000">
            <a:off x="3606610" y="5805807"/>
            <a:ext cx="768600" cy="248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" name="Google Shape;160;p1"/>
          <p:cNvCxnSpPr>
            <a:endCxn id="90" idx="2"/>
          </p:cNvCxnSpPr>
          <p:nvPr/>
        </p:nvCxnSpPr>
        <p:spPr>
          <a:xfrm rot="10800000">
            <a:off x="2666109" y="3111266"/>
            <a:ext cx="2907900" cy="1878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1" name="Google Shape;161;p1"/>
          <p:cNvCxnSpPr>
            <a:endCxn id="85" idx="1"/>
          </p:cNvCxnSpPr>
          <p:nvPr/>
        </p:nvCxnSpPr>
        <p:spPr>
          <a:xfrm rot="-5400000">
            <a:off x="4402495" y="1696866"/>
            <a:ext cx="1538700" cy="10566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" name="Google Shape;162;p1"/>
          <p:cNvCxnSpPr>
            <a:stCxn id="90" idx="0"/>
            <a:endCxn id="121" idx="0"/>
          </p:cNvCxnSpPr>
          <p:nvPr/>
        </p:nvCxnSpPr>
        <p:spPr>
          <a:xfrm rot="5400000">
            <a:off x="1853409" y="1766802"/>
            <a:ext cx="68400" cy="1557000"/>
          </a:xfrm>
          <a:prstGeom prst="curvedConnector3">
            <a:avLst>
              <a:gd fmla="val -334212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" name="Google Shape;163;p1"/>
          <p:cNvCxnSpPr>
            <a:stCxn id="121" idx="1"/>
            <a:endCxn id="122" idx="1"/>
          </p:cNvCxnSpPr>
          <p:nvPr/>
        </p:nvCxnSpPr>
        <p:spPr>
          <a:xfrm>
            <a:off x="424385" y="2710368"/>
            <a:ext cx="448500" cy="316800"/>
          </a:xfrm>
          <a:prstGeom prst="curvedConnector3">
            <a:avLst>
              <a:gd fmla="val -5097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4" name="Google Shape;164;p1"/>
          <p:cNvCxnSpPr>
            <a:stCxn id="121" idx="1"/>
            <a:endCxn id="124" idx="1"/>
          </p:cNvCxnSpPr>
          <p:nvPr/>
        </p:nvCxnSpPr>
        <p:spPr>
          <a:xfrm>
            <a:off x="424385" y="2710368"/>
            <a:ext cx="711000" cy="647100"/>
          </a:xfrm>
          <a:prstGeom prst="curvedConnector3">
            <a:avLst>
              <a:gd fmla="val -32153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" name="Google Shape;165;p1"/>
          <p:cNvCxnSpPr>
            <a:stCxn id="121" idx="1"/>
            <a:endCxn id="123" idx="1"/>
          </p:cNvCxnSpPr>
          <p:nvPr/>
        </p:nvCxnSpPr>
        <p:spPr>
          <a:xfrm>
            <a:off x="424385" y="2710368"/>
            <a:ext cx="1366500" cy="1023900"/>
          </a:xfrm>
          <a:prstGeom prst="curvedConnector3">
            <a:avLst>
              <a:gd fmla="val -16729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" name="Google Shape;166;p1"/>
          <p:cNvCxnSpPr>
            <a:stCxn id="121" idx="1"/>
            <a:endCxn id="125" idx="1"/>
          </p:cNvCxnSpPr>
          <p:nvPr/>
        </p:nvCxnSpPr>
        <p:spPr>
          <a:xfrm>
            <a:off x="424385" y="2710368"/>
            <a:ext cx="393300" cy="1564800"/>
          </a:xfrm>
          <a:prstGeom prst="curvedConnector3">
            <a:avLst>
              <a:gd fmla="val -58124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7" name="Google Shape;167;p1"/>
          <p:cNvCxnSpPr>
            <a:stCxn id="125" idx="2"/>
            <a:endCxn id="126" idx="1"/>
          </p:cNvCxnSpPr>
          <p:nvPr/>
        </p:nvCxnSpPr>
        <p:spPr>
          <a:xfrm rot="-5400000">
            <a:off x="1600024" y="4014400"/>
            <a:ext cx="98100" cy="684900"/>
          </a:xfrm>
          <a:prstGeom prst="curvedConnector4">
            <a:avLst>
              <a:gd fmla="val -233027" name="adj1"/>
              <a:gd fmla="val 8570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" name="Google Shape;168;p1"/>
          <p:cNvCxnSpPr>
            <a:stCxn id="125" idx="0"/>
            <a:endCxn id="127" idx="1"/>
          </p:cNvCxnSpPr>
          <p:nvPr/>
        </p:nvCxnSpPr>
        <p:spPr>
          <a:xfrm rot="-5400000">
            <a:off x="1768624" y="3613890"/>
            <a:ext cx="68400" cy="9924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" name="Google Shape;169;p1"/>
          <p:cNvCxnSpPr>
            <a:stCxn id="125" idx="1"/>
          </p:cNvCxnSpPr>
          <p:nvPr/>
        </p:nvCxnSpPr>
        <p:spPr>
          <a:xfrm>
            <a:off x="817547" y="4275095"/>
            <a:ext cx="1861800" cy="1530600"/>
          </a:xfrm>
          <a:prstGeom prst="curvedConnector3">
            <a:avLst>
              <a:gd fmla="val -12278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0" name="Google Shape;170;p1"/>
          <p:cNvCxnSpPr>
            <a:stCxn id="98" idx="2"/>
            <a:endCxn id="129" idx="1"/>
          </p:cNvCxnSpPr>
          <p:nvPr/>
        </p:nvCxnSpPr>
        <p:spPr>
          <a:xfrm flipH="1" rot="5400000">
            <a:off x="2359835" y="1153748"/>
            <a:ext cx="282300" cy="1054800"/>
          </a:xfrm>
          <a:prstGeom prst="curvedConnector4">
            <a:avLst>
              <a:gd fmla="val -80978" name="adj1"/>
              <a:gd fmla="val 121684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" name="Google Shape;171;p1"/>
          <p:cNvCxnSpPr>
            <a:stCxn id="91" idx="0"/>
            <a:endCxn id="128" idx="2"/>
          </p:cNvCxnSpPr>
          <p:nvPr/>
        </p:nvCxnSpPr>
        <p:spPr>
          <a:xfrm flipH="1" rot="5400000">
            <a:off x="3094771" y="889738"/>
            <a:ext cx="420900" cy="92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" name="Google Shape;172;p1"/>
          <p:cNvCxnSpPr>
            <a:stCxn id="128" idx="3"/>
            <a:endCxn id="114" idx="0"/>
          </p:cNvCxnSpPr>
          <p:nvPr/>
        </p:nvCxnSpPr>
        <p:spPr>
          <a:xfrm>
            <a:off x="3474921" y="1008991"/>
            <a:ext cx="2437800" cy="24927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"/>
          <p:cNvGrpSpPr/>
          <p:nvPr/>
        </p:nvGrpSpPr>
        <p:grpSpPr>
          <a:xfrm>
            <a:off x="2463274" y="869361"/>
            <a:ext cx="2024401" cy="5418667"/>
            <a:chOff x="-36147" y="0"/>
            <a:chExt cx="2024401" cy="5418667"/>
          </a:xfrm>
        </p:grpSpPr>
        <p:sp>
          <p:nvSpPr>
            <p:cNvPr id="178" name="Google Shape;178;p2"/>
            <p:cNvSpPr/>
            <p:nvPr/>
          </p:nvSpPr>
          <p:spPr>
            <a:xfrm>
              <a:off x="1895" y="0"/>
              <a:ext cx="1986359" cy="5418667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-36147" y="530006"/>
              <a:ext cx="1986359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4900" lIns="184900" spcFirstLastPara="1" rIns="184900" wrap="square" tIns="184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Centrado en el producto</a:t>
              </a:r>
              <a:endParaRPr/>
            </a:p>
          </p:txBody>
        </p:sp>
      </p:grpSp>
      <p:grpSp>
        <p:nvGrpSpPr>
          <p:cNvPr id="180" name="Google Shape;180;p2"/>
          <p:cNvGrpSpPr/>
          <p:nvPr/>
        </p:nvGrpSpPr>
        <p:grpSpPr>
          <a:xfrm>
            <a:off x="4517471" y="869361"/>
            <a:ext cx="1993308" cy="5418667"/>
            <a:chOff x="2047845" y="0"/>
            <a:chExt cx="1993308" cy="5418667"/>
          </a:xfrm>
        </p:grpSpPr>
        <p:sp>
          <p:nvSpPr>
            <p:cNvPr id="181" name="Google Shape;181;p2"/>
            <p:cNvSpPr/>
            <p:nvPr/>
          </p:nvSpPr>
          <p:spPr>
            <a:xfrm>
              <a:off x="2047845" y="0"/>
              <a:ext cx="1986359" cy="5418667"/>
            </a:xfrm>
            <a:prstGeom prst="roundRect">
              <a:avLst>
                <a:gd fmla="val 10000" name="adj"/>
              </a:avLst>
            </a:prstGeom>
            <a:solidFill>
              <a:srgbClr val="51EB1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2054794" y="579447"/>
              <a:ext cx="1986359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4900" lIns="184900" spcFirstLastPara="1" rIns="184900" wrap="square" tIns="184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Centrado en el consumidor</a:t>
              </a:r>
              <a:endParaRPr/>
            </a:p>
          </p:txBody>
        </p:sp>
      </p:grpSp>
      <p:grpSp>
        <p:nvGrpSpPr>
          <p:cNvPr id="183" name="Google Shape;183;p2"/>
          <p:cNvGrpSpPr/>
          <p:nvPr/>
        </p:nvGrpSpPr>
        <p:grpSpPr>
          <a:xfrm>
            <a:off x="8656625" y="888703"/>
            <a:ext cx="1986359" cy="5418667"/>
            <a:chOff x="4093795" y="0"/>
            <a:chExt cx="1986359" cy="5418667"/>
          </a:xfrm>
        </p:grpSpPr>
        <p:sp>
          <p:nvSpPr>
            <p:cNvPr id="184" name="Google Shape;184;p2"/>
            <p:cNvSpPr/>
            <p:nvPr/>
          </p:nvSpPr>
          <p:spPr>
            <a:xfrm>
              <a:off x="4093795" y="0"/>
              <a:ext cx="1986359" cy="5418667"/>
            </a:xfrm>
            <a:prstGeom prst="roundRect">
              <a:avLst>
                <a:gd fmla="val 10000" name="adj"/>
              </a:avLst>
            </a:prstGeom>
            <a:solidFill>
              <a:srgbClr val="7030A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4093795" y="629785"/>
              <a:ext cx="1986359" cy="216746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 anchorCtr="0" anchor="ctr" bIns="184900" lIns="184900" spcFirstLastPara="1" rIns="184900" wrap="square" tIns="184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 lo tradicional a lo digital</a:t>
              </a:r>
              <a:endParaRPr/>
            </a:p>
          </p:txBody>
        </p:sp>
      </p:grpSp>
      <p:grpSp>
        <p:nvGrpSpPr>
          <p:cNvPr id="186" name="Google Shape;186;p2"/>
          <p:cNvGrpSpPr/>
          <p:nvPr/>
        </p:nvGrpSpPr>
        <p:grpSpPr>
          <a:xfrm>
            <a:off x="6524953" y="869360"/>
            <a:ext cx="2016155" cy="5418667"/>
            <a:chOff x="6077650" y="-19344"/>
            <a:chExt cx="2016155" cy="5418667"/>
          </a:xfrm>
        </p:grpSpPr>
        <p:sp>
          <p:nvSpPr>
            <p:cNvPr id="187" name="Google Shape;187;p2"/>
            <p:cNvSpPr/>
            <p:nvPr/>
          </p:nvSpPr>
          <p:spPr>
            <a:xfrm>
              <a:off x="6077650" y="-19344"/>
              <a:ext cx="1986359" cy="5418667"/>
            </a:xfrm>
            <a:prstGeom prst="roundRect">
              <a:avLst>
                <a:gd fmla="val 10000" name="adj"/>
              </a:avLst>
            </a:prstGeom>
            <a:solidFill>
              <a:srgbClr val="4371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6107446" y="570293"/>
              <a:ext cx="1986359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4900" lIns="184900" spcFirstLastPara="1" rIns="184900" wrap="square" tIns="184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Centrado en los valores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"/>
          <p:cNvSpPr/>
          <p:nvPr/>
        </p:nvSpPr>
        <p:spPr>
          <a:xfrm>
            <a:off x="2901590" y="5862504"/>
            <a:ext cx="7477760" cy="309138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E8CA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"/>
          <p:cNvSpPr/>
          <p:nvPr/>
        </p:nvSpPr>
        <p:spPr>
          <a:xfrm>
            <a:off x="3024132" y="1254878"/>
            <a:ext cx="833883" cy="707886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4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191" name="Google Shape;191;p2"/>
          <p:cNvSpPr/>
          <p:nvPr/>
        </p:nvSpPr>
        <p:spPr>
          <a:xfrm>
            <a:off x="5059790" y="1306645"/>
            <a:ext cx="833883" cy="707886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lang="es-MX" sz="4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endParaRPr/>
          </a:p>
        </p:txBody>
      </p:sp>
      <p:sp>
        <p:nvSpPr>
          <p:cNvPr id="192" name="Google Shape;192;p2"/>
          <p:cNvSpPr/>
          <p:nvPr/>
        </p:nvSpPr>
        <p:spPr>
          <a:xfrm>
            <a:off x="9209492" y="1291365"/>
            <a:ext cx="833883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lang="es-MX" sz="4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endParaRPr/>
          </a:p>
        </p:txBody>
      </p:sp>
      <p:sp>
        <p:nvSpPr>
          <p:cNvPr id="193" name="Google Shape;193;p2"/>
          <p:cNvSpPr/>
          <p:nvPr/>
        </p:nvSpPr>
        <p:spPr>
          <a:xfrm>
            <a:off x="7080207" y="1306645"/>
            <a:ext cx="833883" cy="70788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algn="ctr" dir="2700000" dist="2286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lang="es-MX" sz="4000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endParaRPr/>
          </a:p>
        </p:txBody>
      </p:sp>
      <p:sp>
        <p:nvSpPr>
          <p:cNvPr id="194" name="Google Shape;194;p2"/>
          <p:cNvSpPr txBox="1"/>
          <p:nvPr/>
        </p:nvSpPr>
        <p:spPr>
          <a:xfrm>
            <a:off x="2251398" y="260518"/>
            <a:ext cx="36860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del Marketing</a:t>
            </a:r>
            <a:endParaRPr/>
          </a:p>
        </p:txBody>
      </p:sp>
      <p:graphicFrame>
        <p:nvGraphicFramePr>
          <p:cNvPr id="195" name="Google Shape;195;p2"/>
          <p:cNvGraphicFramePr/>
          <p:nvPr/>
        </p:nvGraphicFramePr>
        <p:xfrm>
          <a:off x="675248" y="2889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{F186D8C9-2587-4723-BB1F-3E9FBFEF1CB5}</a:tableStyleId>
              </a:tblPr>
              <a:tblGrid>
                <a:gridCol w="1871000"/>
                <a:gridCol w="2063125"/>
                <a:gridCol w="1967075"/>
                <a:gridCol w="2047050"/>
                <a:gridCol w="1887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 u="none" cap="none" strike="noStrike">
                          <a:solidFill>
                            <a:schemeClr val="dk1"/>
                          </a:solidFill>
                        </a:rPr>
                        <a:t>Objetivo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Vender productos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Satisfacer y retener</a:t>
                      </a: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 a los consumidores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Hacer de este mundo un mundo mejor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Marketing</a:t>
                      </a: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 Digital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Fuerzas</a:t>
                      </a: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 propulsoras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Revolución Industrial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Tecnologías</a:t>
                      </a: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 de información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/>
                        <a:t>Nueva ola tecnológica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/>
                        <a:t>Economía</a:t>
                      </a:r>
                      <a:r>
                        <a:rPr b="0" lang="es-MX" sz="1100"/>
                        <a:t> digital</a:t>
                      </a:r>
                      <a:endParaRPr b="0" sz="11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Percepción del mercado por la empresa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Mercado de masas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Consumidor más inteligente con</a:t>
                      </a: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 mente y corazón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/>
                        <a:t>Ser humano integral, con mente</a:t>
                      </a:r>
                      <a:r>
                        <a:rPr b="0" lang="es-MX" sz="1100"/>
                        <a:t>, corazón y espíritu</a:t>
                      </a:r>
                      <a:endParaRPr b="0" sz="11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/>
                        <a:t>Comunidades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Concepto fundamental de marketing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Consumidores con necesidades físicas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Diferenciación, Posicionamiento</a:t>
                      </a: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 corporativo y de producto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/>
                        <a:t>Valores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/>
                        <a:t>Marketing de compromiso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Directrices corporativas de marketing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Desarrollo de producto, especificaciones del producto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Misión, visión y valores</a:t>
                      </a: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 corporativos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/>
                        <a:t>Propuesta de Valor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/>
                        <a:t>Responsabilidad Social</a:t>
                      </a:r>
                      <a:r>
                        <a:rPr b="0" lang="es-MX" sz="1100"/>
                        <a:t> y ambiental, co-creación</a:t>
                      </a:r>
                      <a:endParaRPr b="0" sz="11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Interacción funcional</a:t>
                      </a: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 con los consumidores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Funcional y emocional, transacciones uno-a-uno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>
                          <a:solidFill>
                            <a:schemeClr val="dk1"/>
                          </a:solidFill>
                        </a:rPr>
                        <a:t>Funcional, emocional y espiritual, relaciones uno-a-uno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/>
                        <a:t>Funcional, emocional y espiritual, colaboración entre muchos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100"/>
                        <a:t>Funcional, emocional y espiritual, colaboración entre muchos, conectividad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"/>
          <p:cNvSpPr txBox="1"/>
          <p:nvPr/>
        </p:nvSpPr>
        <p:spPr>
          <a:xfrm>
            <a:off x="2383274" y="6304787"/>
            <a:ext cx="695094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elaboración propia con información de: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Kotler, P., Kartajaya, H. y Setiawan, I. (2016) Marketing 4.0. Moving from traditional to Digital. España: LID Editorial.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Kotler, P. (2010) Marketing 3.0. España: LID Editorial.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/>
          <p:cNvSpPr txBox="1"/>
          <p:nvPr/>
        </p:nvSpPr>
        <p:spPr>
          <a:xfrm>
            <a:off x="432000" y="432000"/>
            <a:ext cx="113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de los conceptos del Marketing</a:t>
            </a:r>
            <a:endParaRPr/>
          </a:p>
        </p:txBody>
      </p:sp>
      <p:grpSp>
        <p:nvGrpSpPr>
          <p:cNvPr id="202" name="Google Shape;202;p3" title="Texto de hito"/>
          <p:cNvGrpSpPr/>
          <p:nvPr/>
        </p:nvGrpSpPr>
        <p:grpSpPr>
          <a:xfrm>
            <a:off x="684091" y="4117816"/>
            <a:ext cx="1358750" cy="2191363"/>
            <a:chOff x="1490394" y="2901267"/>
            <a:chExt cx="1358750" cy="2191363"/>
          </a:xfrm>
        </p:grpSpPr>
        <p:sp>
          <p:nvSpPr>
            <p:cNvPr id="203" name="Google Shape;203;p3"/>
            <p:cNvSpPr txBox="1"/>
            <p:nvPr/>
          </p:nvSpPr>
          <p:spPr>
            <a:xfrm>
              <a:off x="1490394" y="2901267"/>
              <a:ext cx="12947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Posguerra</a:t>
              </a:r>
              <a:endParaRPr/>
            </a:p>
          </p:txBody>
        </p:sp>
        <p:sp>
          <p:nvSpPr>
            <p:cNvPr id="204" name="Google Shape;204;p3"/>
            <p:cNvSpPr txBox="1"/>
            <p:nvPr/>
          </p:nvSpPr>
          <p:spPr>
            <a:xfrm>
              <a:off x="1554363" y="3794422"/>
              <a:ext cx="1294781" cy="1298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Mix</a:t>
              </a:r>
              <a:endParaRPr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Ciclo de vida del producto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Imagen de marca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Segmentación del mercado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Concepto de marketing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Auditoria de marketing</a:t>
              </a:r>
              <a:endParaRPr/>
            </a:p>
          </p:txBody>
        </p:sp>
      </p:grpSp>
      <p:sp>
        <p:nvSpPr>
          <p:cNvPr id="205" name="Google Shape;205;p3" title="Número de hito"/>
          <p:cNvSpPr/>
          <p:nvPr/>
        </p:nvSpPr>
        <p:spPr>
          <a:xfrm>
            <a:off x="1148144" y="4457098"/>
            <a:ext cx="407673" cy="407673"/>
          </a:xfrm>
          <a:prstGeom prst="ellipse">
            <a:avLst/>
          </a:prstGeom>
          <a:solidFill>
            <a:srgbClr val="833C0B"/>
          </a:solidFill>
          <a:ln>
            <a:noFill/>
          </a:ln>
          <a:effectLst>
            <a:outerShdw blurRad="254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50</a:t>
            </a:r>
            <a:endParaRPr/>
          </a:p>
        </p:txBody>
      </p:sp>
      <p:pic>
        <p:nvPicPr>
          <p:cNvPr id="206" name="Google Shape;206;p3" title="llamada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933310" y="3915499"/>
            <a:ext cx="581025" cy="295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descr="Texto de hito" id="207" name="Google Shape;207;p3"/>
          <p:cNvGrpSpPr/>
          <p:nvPr/>
        </p:nvGrpSpPr>
        <p:grpSpPr>
          <a:xfrm>
            <a:off x="1447742" y="1643575"/>
            <a:ext cx="2164879" cy="1582858"/>
            <a:chOff x="113032" y="1491018"/>
            <a:chExt cx="2164879" cy="721043"/>
          </a:xfrm>
        </p:grpSpPr>
        <p:sp>
          <p:nvSpPr>
            <p:cNvPr id="208" name="Google Shape;208;p3"/>
            <p:cNvSpPr txBox="1"/>
            <p:nvPr/>
          </p:nvSpPr>
          <p:spPr>
            <a:xfrm>
              <a:off x="113032" y="2085879"/>
              <a:ext cx="1867868" cy="126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Vuelo sin motor</a:t>
              </a:r>
              <a:endParaRPr/>
            </a:p>
          </p:txBody>
        </p:sp>
        <p:sp>
          <p:nvSpPr>
            <p:cNvPr id="209" name="Google Shape;209;p3"/>
            <p:cNvSpPr txBox="1"/>
            <p:nvPr/>
          </p:nvSpPr>
          <p:spPr>
            <a:xfrm>
              <a:off x="983129" y="1491018"/>
              <a:ext cx="1294782" cy="490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Las cuatro P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Miopía del marketing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estilo de vida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Concepto ampliado de marketing</a:t>
              </a:r>
              <a:endParaRPr/>
            </a:p>
          </p:txBody>
        </p:sp>
      </p:grpSp>
      <p:sp>
        <p:nvSpPr>
          <p:cNvPr id="210" name="Google Shape;210;p3" title="Número de hito"/>
          <p:cNvSpPr/>
          <p:nvPr/>
        </p:nvSpPr>
        <p:spPr>
          <a:xfrm>
            <a:off x="1862725" y="2149867"/>
            <a:ext cx="407673" cy="407673"/>
          </a:xfrm>
          <a:prstGeom prst="ellipse">
            <a:avLst/>
          </a:prstGeom>
          <a:solidFill>
            <a:srgbClr val="833C0B"/>
          </a:solidFill>
          <a:ln>
            <a:noFill/>
          </a:ln>
          <a:effectLst>
            <a:outerShdw blurRad="254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60</a:t>
            </a:r>
            <a:endParaRPr/>
          </a:p>
        </p:txBody>
      </p:sp>
      <p:pic>
        <p:nvPicPr>
          <p:cNvPr id="211" name="Google Shape;211;p3" title="llamada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1913284" y="2735469"/>
            <a:ext cx="581025" cy="295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3" title="Texto de hito"/>
          <p:cNvGrpSpPr/>
          <p:nvPr/>
        </p:nvGrpSpPr>
        <p:grpSpPr>
          <a:xfrm>
            <a:off x="3169115" y="4171414"/>
            <a:ext cx="1506758" cy="1508869"/>
            <a:chOff x="1950767" y="1885179"/>
            <a:chExt cx="1506758" cy="531436"/>
          </a:xfrm>
        </p:grpSpPr>
        <p:sp>
          <p:nvSpPr>
            <p:cNvPr id="213" name="Google Shape;213;p3"/>
            <p:cNvSpPr txBox="1"/>
            <p:nvPr/>
          </p:nvSpPr>
          <p:spPr>
            <a:xfrm>
              <a:off x="1950767" y="1885179"/>
              <a:ext cx="12947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Turbulencias</a:t>
              </a:r>
              <a:endParaRPr/>
            </a:p>
          </p:txBody>
        </p:sp>
        <p:sp>
          <p:nvSpPr>
            <p:cNvPr id="214" name="Google Shape;214;p3"/>
            <p:cNvSpPr txBox="1"/>
            <p:nvPr/>
          </p:nvSpPr>
          <p:spPr>
            <a:xfrm>
              <a:off x="2162744" y="2180878"/>
              <a:ext cx="1294781" cy="235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Público objetivo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Posicionamiento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estratégico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servicios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social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societario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Macromarketing</a:t>
              </a:r>
              <a:endParaRPr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5" name="Google Shape;215;p3" title="Número de hito"/>
          <p:cNvSpPr/>
          <p:nvPr/>
        </p:nvSpPr>
        <p:spPr>
          <a:xfrm>
            <a:off x="3763749" y="4434293"/>
            <a:ext cx="407673" cy="407673"/>
          </a:xfrm>
          <a:prstGeom prst="ellipse">
            <a:avLst/>
          </a:prstGeom>
          <a:solidFill>
            <a:srgbClr val="2E75B5"/>
          </a:solidFill>
          <a:ln>
            <a:noFill/>
          </a:ln>
          <a:effectLst>
            <a:outerShdw blurRad="254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70</a:t>
            </a:r>
            <a:endParaRPr/>
          </a:p>
        </p:txBody>
      </p:sp>
      <p:pic>
        <p:nvPicPr>
          <p:cNvPr id="216" name="Google Shape;216;p3" title="llamada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3508784" y="3926541"/>
            <a:ext cx="581025" cy="295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3" title="Texto de hito"/>
          <p:cNvGrpSpPr/>
          <p:nvPr/>
        </p:nvGrpSpPr>
        <p:grpSpPr>
          <a:xfrm>
            <a:off x="4756468" y="1263733"/>
            <a:ext cx="2418781" cy="2901386"/>
            <a:chOff x="-1387968" y="2274652"/>
            <a:chExt cx="2418781" cy="621505"/>
          </a:xfrm>
        </p:grpSpPr>
        <p:sp>
          <p:nvSpPr>
            <p:cNvPr id="218" name="Google Shape;218;p3"/>
            <p:cNvSpPr txBox="1"/>
            <p:nvPr/>
          </p:nvSpPr>
          <p:spPr>
            <a:xfrm>
              <a:off x="-1387968" y="2619158"/>
              <a:ext cx="145877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Incertidumbre</a:t>
              </a:r>
              <a:endParaRPr/>
            </a:p>
          </p:txBody>
        </p:sp>
        <p:sp>
          <p:nvSpPr>
            <p:cNvPr id="219" name="Google Shape;219;p3"/>
            <p:cNvSpPr txBox="1"/>
            <p:nvPr/>
          </p:nvSpPr>
          <p:spPr>
            <a:xfrm>
              <a:off x="-263968" y="2274652"/>
              <a:ext cx="1294781" cy="364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Guerra del marketing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global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local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Megamarket</a:t>
              </a:r>
              <a:endParaRPr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directo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relación con el cliente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interno </a:t>
              </a:r>
              <a:endParaRPr/>
            </a:p>
          </p:txBody>
        </p:sp>
      </p:grpSp>
      <p:sp>
        <p:nvSpPr>
          <p:cNvPr id="220" name="Google Shape;220;p3" title="Número de hito"/>
          <p:cNvSpPr/>
          <p:nvPr/>
        </p:nvSpPr>
        <p:spPr>
          <a:xfrm>
            <a:off x="5171642" y="2103866"/>
            <a:ext cx="407673" cy="407673"/>
          </a:xfrm>
          <a:prstGeom prst="ellipse">
            <a:avLst/>
          </a:prstGeom>
          <a:solidFill>
            <a:srgbClr val="7B7B7B"/>
          </a:solidFill>
          <a:ln>
            <a:noFill/>
          </a:ln>
          <a:effectLst>
            <a:outerShdw blurRad="254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80</a:t>
            </a:r>
            <a:endParaRPr/>
          </a:p>
        </p:txBody>
      </p:sp>
      <p:pic>
        <p:nvPicPr>
          <p:cNvPr id="221" name="Google Shape;221;p3" title="llamada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191845" y="2628082"/>
            <a:ext cx="5810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" title="Número de hito"/>
          <p:cNvSpPr/>
          <p:nvPr/>
        </p:nvSpPr>
        <p:spPr>
          <a:xfrm>
            <a:off x="7562625" y="4312971"/>
            <a:ext cx="407673" cy="407673"/>
          </a:xfrm>
          <a:prstGeom prst="ellipse">
            <a:avLst/>
          </a:prstGeom>
          <a:solidFill>
            <a:srgbClr val="BF9000"/>
          </a:solidFill>
          <a:ln>
            <a:noFill/>
          </a:ln>
          <a:effectLst>
            <a:outerShdw blurRad="254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90</a:t>
            </a:r>
            <a:endParaRPr/>
          </a:p>
        </p:txBody>
      </p:sp>
      <p:grpSp>
        <p:nvGrpSpPr>
          <p:cNvPr id="223" name="Google Shape;223;p3" title="Texto de hito"/>
          <p:cNvGrpSpPr/>
          <p:nvPr/>
        </p:nvGrpSpPr>
        <p:grpSpPr>
          <a:xfrm>
            <a:off x="6807755" y="4068406"/>
            <a:ext cx="1678843" cy="2603699"/>
            <a:chOff x="1007064" y="1272702"/>
            <a:chExt cx="1356405" cy="2603699"/>
          </a:xfrm>
        </p:grpSpPr>
        <p:sp>
          <p:nvSpPr>
            <p:cNvPr id="224" name="Google Shape;224;p3"/>
            <p:cNvSpPr txBox="1"/>
            <p:nvPr/>
          </p:nvSpPr>
          <p:spPr>
            <a:xfrm>
              <a:off x="1007064" y="1272702"/>
              <a:ext cx="12947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Uno a uno</a:t>
              </a:r>
              <a:endParaRPr/>
            </a:p>
          </p:txBody>
        </p:sp>
        <p:sp>
          <p:nvSpPr>
            <p:cNvPr id="225" name="Google Shape;225;p3"/>
            <p:cNvSpPr txBox="1"/>
            <p:nvPr/>
          </p:nvSpPr>
          <p:spPr>
            <a:xfrm>
              <a:off x="1234820" y="2216818"/>
              <a:ext cx="1128649" cy="1659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emocional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experiencias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en línea y comercio electrónico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patrocinio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Ética del marketing</a:t>
              </a:r>
              <a:endParaRPr/>
            </a:p>
          </p:txBody>
        </p:sp>
      </p:grpSp>
      <p:pic>
        <p:nvPicPr>
          <p:cNvPr id="226" name="Google Shape;226;p3" title="llamada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7398521" y="3951384"/>
            <a:ext cx="581025" cy="295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3" title="Texto de hito"/>
          <p:cNvGrpSpPr/>
          <p:nvPr/>
        </p:nvGrpSpPr>
        <p:grpSpPr>
          <a:xfrm>
            <a:off x="8609451" y="631501"/>
            <a:ext cx="2888465" cy="2594626"/>
            <a:chOff x="8004046" y="1634330"/>
            <a:chExt cx="2888465" cy="2594626"/>
          </a:xfrm>
        </p:grpSpPr>
        <p:sp>
          <p:nvSpPr>
            <p:cNvPr id="228" name="Google Shape;228;p3"/>
            <p:cNvSpPr txBox="1"/>
            <p:nvPr/>
          </p:nvSpPr>
          <p:spPr>
            <a:xfrm>
              <a:off x="8004046" y="3951957"/>
              <a:ext cx="16308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Base financiera</a:t>
              </a:r>
              <a:endParaRPr/>
            </a:p>
          </p:txBody>
        </p:sp>
        <p:sp>
          <p:nvSpPr>
            <p:cNvPr id="229" name="Google Shape;229;p3"/>
            <p:cNvSpPr txBox="1"/>
            <p:nvPr/>
          </p:nvSpPr>
          <p:spPr>
            <a:xfrm>
              <a:off x="9261683" y="1634330"/>
              <a:ext cx="1630828" cy="1868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ROI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valor de marca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valor de cliente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responsabilidad social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Soberanía del consumidor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en los medios sociales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Tribalismo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autenticidad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s-MX" sz="1000">
                  <a:solidFill>
                    <a:srgbClr val="3F3F3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Marketing de co-creación</a:t>
              </a:r>
              <a:endParaRPr/>
            </a:p>
            <a:p>
              <a:pPr indent="-1079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30" name="Google Shape;230;p3"/>
          <p:cNvSpPr/>
          <p:nvPr/>
        </p:nvSpPr>
        <p:spPr>
          <a:xfrm>
            <a:off x="9035423" y="2220773"/>
            <a:ext cx="407673" cy="407673"/>
          </a:xfrm>
          <a:prstGeom prst="ellipse">
            <a:avLst/>
          </a:prstGeom>
          <a:solidFill>
            <a:srgbClr val="3F3F3F"/>
          </a:solidFill>
          <a:ln>
            <a:noFill/>
          </a:ln>
          <a:effectLst>
            <a:outerShdw blurRad="254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SXXI</a:t>
            </a:r>
            <a:endParaRPr/>
          </a:p>
        </p:txBody>
      </p:sp>
      <p:pic>
        <p:nvPicPr>
          <p:cNvPr id="231" name="Google Shape;231;p3" title="llamada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9063684" y="2735468"/>
            <a:ext cx="581025" cy="295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3" title="Año 4"/>
          <p:cNvGrpSpPr/>
          <p:nvPr/>
        </p:nvGrpSpPr>
        <p:grpSpPr>
          <a:xfrm>
            <a:off x="8481353" y="3119046"/>
            <a:ext cx="3133180" cy="562188"/>
            <a:chOff x="8481353" y="3119046"/>
            <a:chExt cx="3133180" cy="562188"/>
          </a:xfrm>
        </p:grpSpPr>
        <p:cxnSp>
          <p:nvCxnSpPr>
            <p:cNvPr id="233" name="Google Shape;233;p3" title="Líneas de T"/>
            <p:cNvCxnSpPr/>
            <p:nvPr/>
          </p:nvCxnSpPr>
          <p:spPr>
            <a:xfrm>
              <a:off x="10785757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3" title="Líneas de T"/>
            <p:cNvCxnSpPr/>
            <p:nvPr/>
          </p:nvCxnSpPr>
          <p:spPr>
            <a:xfrm>
              <a:off x="9481202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35" name="Google Shape;235;p3" title="Flecha de año"/>
            <p:cNvSpPr/>
            <p:nvPr/>
          </p:nvSpPr>
          <p:spPr>
            <a:xfrm>
              <a:off x="8481353" y="3325978"/>
              <a:ext cx="3133180" cy="355256"/>
            </a:xfrm>
            <a:prstGeom prst="right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FFF2CC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6" name="Google Shape;236;p3" title="Círculo de fono de trimestre"/>
            <p:cNvSpPr/>
            <p:nvPr/>
          </p:nvSpPr>
          <p:spPr>
            <a:xfrm>
              <a:off x="10682502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7" name="Google Shape;237;p3" title="Círculo de fono de trimestre"/>
            <p:cNvSpPr/>
            <p:nvPr/>
          </p:nvSpPr>
          <p:spPr>
            <a:xfrm>
              <a:off x="10031923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8" name="Google Shape;238;p3" title="Círculo de fono de trimestre"/>
            <p:cNvSpPr/>
            <p:nvPr/>
          </p:nvSpPr>
          <p:spPr>
            <a:xfrm>
              <a:off x="9384678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9" name="Google Shape;239;p3" title="Círculo de fono de trimestre"/>
            <p:cNvSpPr/>
            <p:nvPr/>
          </p:nvSpPr>
          <p:spPr>
            <a:xfrm>
              <a:off x="8731634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240" name="Google Shape;240;p3" title="Líneas de T"/>
            <p:cNvCxnSpPr/>
            <p:nvPr/>
          </p:nvCxnSpPr>
          <p:spPr>
            <a:xfrm>
              <a:off x="8836180" y="3119046"/>
              <a:ext cx="0" cy="165471"/>
            </a:xfrm>
            <a:prstGeom prst="straightConnector1">
              <a:avLst/>
            </a:prstGeom>
            <a:noFill/>
            <a:ln cap="flat" cmpd="sng" w="15875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" name="Google Shape;241;p3" title="Líneas de T"/>
            <p:cNvCxnSpPr/>
            <p:nvPr/>
          </p:nvCxnSpPr>
          <p:spPr>
            <a:xfrm>
              <a:off x="10130964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42" name="Google Shape;242;p3" title="Número de trimestre"/>
            <p:cNvSpPr txBox="1"/>
            <p:nvPr/>
          </p:nvSpPr>
          <p:spPr>
            <a:xfrm>
              <a:off x="8696830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T1</a:t>
              </a:r>
              <a:endParaRPr sz="10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3" name="Google Shape;243;p3" title="Número de trimestre"/>
            <p:cNvSpPr txBox="1"/>
            <p:nvPr/>
          </p:nvSpPr>
          <p:spPr>
            <a:xfrm>
              <a:off x="9344345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T2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4" name="Google Shape;244;p3" title="Número de trimestre"/>
            <p:cNvSpPr txBox="1"/>
            <p:nvPr/>
          </p:nvSpPr>
          <p:spPr>
            <a:xfrm>
              <a:off x="9991860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T3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5" name="Google Shape;245;p3" title="Número de trimestre"/>
            <p:cNvSpPr txBox="1"/>
            <p:nvPr/>
          </p:nvSpPr>
          <p:spPr>
            <a:xfrm>
              <a:off x="10639376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T4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46" name="Google Shape;246;p3" title="Año 3"/>
          <p:cNvGrpSpPr/>
          <p:nvPr/>
        </p:nvGrpSpPr>
        <p:grpSpPr>
          <a:xfrm>
            <a:off x="5886628" y="3119046"/>
            <a:ext cx="2784204" cy="562188"/>
            <a:chOff x="5886628" y="3119046"/>
            <a:chExt cx="2784204" cy="562188"/>
          </a:xfrm>
        </p:grpSpPr>
        <p:cxnSp>
          <p:nvCxnSpPr>
            <p:cNvPr id="247" name="Google Shape;247;p3" title="Líneas de T"/>
            <p:cNvCxnSpPr/>
            <p:nvPr/>
          </p:nvCxnSpPr>
          <p:spPr>
            <a:xfrm>
              <a:off x="6890490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48" name="Google Shape;248;p3" title="Flecha de año"/>
            <p:cNvSpPr/>
            <p:nvPr/>
          </p:nvSpPr>
          <p:spPr>
            <a:xfrm>
              <a:off x="5886628" y="3325978"/>
              <a:ext cx="2784204" cy="355256"/>
            </a:xfrm>
            <a:prstGeom prst="right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DEDED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9" name="Google Shape;249;p3" title="Círculo de fono de trimestre"/>
            <p:cNvSpPr/>
            <p:nvPr/>
          </p:nvSpPr>
          <p:spPr>
            <a:xfrm>
              <a:off x="8095938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50" name="Google Shape;250;p3" title="Círculo de fono de trimestre"/>
            <p:cNvSpPr/>
            <p:nvPr/>
          </p:nvSpPr>
          <p:spPr>
            <a:xfrm>
              <a:off x="7443121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51" name="Google Shape;251;p3" title="Círculo de fono de trimestre"/>
            <p:cNvSpPr/>
            <p:nvPr/>
          </p:nvSpPr>
          <p:spPr>
            <a:xfrm>
              <a:off x="6791842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52" name="Google Shape;252;p3" title="Círculo de fono de trimestre"/>
            <p:cNvSpPr/>
            <p:nvPr/>
          </p:nvSpPr>
          <p:spPr>
            <a:xfrm>
              <a:off x="6140756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253" name="Google Shape;253;p3" title="Líneas de T"/>
            <p:cNvCxnSpPr/>
            <p:nvPr/>
          </p:nvCxnSpPr>
          <p:spPr>
            <a:xfrm>
              <a:off x="6246612" y="3119046"/>
              <a:ext cx="0" cy="165471"/>
            </a:xfrm>
            <a:prstGeom prst="straightConnector1">
              <a:avLst/>
            </a:prstGeom>
            <a:noFill/>
            <a:ln cap="flat" cmpd="sng" w="15875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4" name="Google Shape;254;p3" title="Líneas de T"/>
            <p:cNvCxnSpPr/>
            <p:nvPr/>
          </p:nvCxnSpPr>
          <p:spPr>
            <a:xfrm>
              <a:off x="7541396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5" name="Google Shape;255;p3" title="Líneas de T"/>
            <p:cNvCxnSpPr/>
            <p:nvPr/>
          </p:nvCxnSpPr>
          <p:spPr>
            <a:xfrm>
              <a:off x="8188788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56" name="Google Shape;256;p3" title="Número de trimestre"/>
            <p:cNvSpPr txBox="1"/>
            <p:nvPr/>
          </p:nvSpPr>
          <p:spPr>
            <a:xfrm>
              <a:off x="6106770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T1</a:t>
              </a:r>
              <a:endParaRPr sz="10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57" name="Google Shape;257;p3" title="Número de trimestre"/>
            <p:cNvSpPr txBox="1"/>
            <p:nvPr/>
          </p:nvSpPr>
          <p:spPr>
            <a:xfrm>
              <a:off x="6754285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T2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58" name="Google Shape;258;p3" title="Número de trimestre"/>
            <p:cNvSpPr txBox="1"/>
            <p:nvPr/>
          </p:nvSpPr>
          <p:spPr>
            <a:xfrm>
              <a:off x="7401800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T3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59" name="Google Shape;259;p3" title="Número de trimestre"/>
            <p:cNvSpPr txBox="1"/>
            <p:nvPr/>
          </p:nvSpPr>
          <p:spPr>
            <a:xfrm>
              <a:off x="8049315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T4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60" name="Google Shape;260;p3" title="Año 2"/>
          <p:cNvGrpSpPr/>
          <p:nvPr/>
        </p:nvGrpSpPr>
        <p:grpSpPr>
          <a:xfrm>
            <a:off x="3309141" y="3119046"/>
            <a:ext cx="2759196" cy="561751"/>
            <a:chOff x="3309141" y="3119046"/>
            <a:chExt cx="2759196" cy="561751"/>
          </a:xfrm>
        </p:grpSpPr>
        <p:sp>
          <p:nvSpPr>
            <p:cNvPr id="261" name="Google Shape;261;p3" title="Flecha de año"/>
            <p:cNvSpPr/>
            <p:nvPr/>
          </p:nvSpPr>
          <p:spPr>
            <a:xfrm>
              <a:off x="3309141" y="3325541"/>
              <a:ext cx="2759196" cy="355256"/>
            </a:xfrm>
            <a:prstGeom prst="right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DDEAF6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2" name="Google Shape;262;p3" title="Círculo de fono de trimestre"/>
            <p:cNvSpPr/>
            <p:nvPr/>
          </p:nvSpPr>
          <p:spPr>
            <a:xfrm>
              <a:off x="5494904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3" name="Google Shape;263;p3" title="Círculo de fono de trimestre"/>
            <p:cNvSpPr/>
            <p:nvPr/>
          </p:nvSpPr>
          <p:spPr>
            <a:xfrm>
              <a:off x="4845879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4" name="Google Shape;264;p3" title="Círculo de fono de trimestre"/>
            <p:cNvSpPr/>
            <p:nvPr/>
          </p:nvSpPr>
          <p:spPr>
            <a:xfrm>
              <a:off x="4209357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5" name="Google Shape;265;p3" title="Círculo de fono de trimestre"/>
            <p:cNvSpPr/>
            <p:nvPr/>
          </p:nvSpPr>
          <p:spPr>
            <a:xfrm>
              <a:off x="3552167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266" name="Google Shape;266;p3" title="Líneas de T"/>
            <p:cNvCxnSpPr/>
            <p:nvPr/>
          </p:nvCxnSpPr>
          <p:spPr>
            <a:xfrm>
              <a:off x="3657043" y="3119046"/>
              <a:ext cx="0" cy="165471"/>
            </a:xfrm>
            <a:prstGeom prst="straightConnector1">
              <a:avLst/>
            </a:prstGeom>
            <a:noFill/>
            <a:ln cap="flat" cmpd="sng" w="15875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3" title="Líneas de T"/>
            <p:cNvCxnSpPr/>
            <p:nvPr/>
          </p:nvCxnSpPr>
          <p:spPr>
            <a:xfrm>
              <a:off x="4304435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3" title="Líneas de T"/>
            <p:cNvCxnSpPr/>
            <p:nvPr/>
          </p:nvCxnSpPr>
          <p:spPr>
            <a:xfrm>
              <a:off x="4951827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3" title="Líneas de T"/>
            <p:cNvCxnSpPr/>
            <p:nvPr/>
          </p:nvCxnSpPr>
          <p:spPr>
            <a:xfrm>
              <a:off x="5599219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70" name="Google Shape;270;p3" title="Número de trimestre"/>
            <p:cNvSpPr txBox="1"/>
            <p:nvPr/>
          </p:nvSpPr>
          <p:spPr>
            <a:xfrm>
              <a:off x="3516710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T1</a:t>
              </a:r>
              <a:endParaRPr sz="10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1" name="Google Shape;271;p3" title="Número de trimestre"/>
            <p:cNvSpPr txBox="1"/>
            <p:nvPr/>
          </p:nvSpPr>
          <p:spPr>
            <a:xfrm>
              <a:off x="4164225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T2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2" name="Google Shape;272;p3" title="Número de trimestre"/>
            <p:cNvSpPr txBox="1"/>
            <p:nvPr/>
          </p:nvSpPr>
          <p:spPr>
            <a:xfrm>
              <a:off x="4811740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T3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3" name="Google Shape;273;p3" title="Número de trimestre"/>
            <p:cNvSpPr txBox="1"/>
            <p:nvPr/>
          </p:nvSpPr>
          <p:spPr>
            <a:xfrm>
              <a:off x="5459255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T4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74" name="Google Shape;274;p3" title="Año 1"/>
          <p:cNvGrpSpPr/>
          <p:nvPr/>
        </p:nvGrpSpPr>
        <p:grpSpPr>
          <a:xfrm>
            <a:off x="791681" y="3119046"/>
            <a:ext cx="2695434" cy="561751"/>
            <a:chOff x="791681" y="3119046"/>
            <a:chExt cx="2695434" cy="561751"/>
          </a:xfrm>
        </p:grpSpPr>
        <p:cxnSp>
          <p:nvCxnSpPr>
            <p:cNvPr id="275" name="Google Shape;275;p3" title="Líneas de T"/>
            <p:cNvCxnSpPr/>
            <p:nvPr/>
          </p:nvCxnSpPr>
          <p:spPr>
            <a:xfrm>
              <a:off x="1703309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76" name="Google Shape;276;p3" title="Flecha de año"/>
            <p:cNvSpPr/>
            <p:nvPr/>
          </p:nvSpPr>
          <p:spPr>
            <a:xfrm>
              <a:off x="791681" y="3325541"/>
              <a:ext cx="2695434" cy="355256"/>
            </a:xfrm>
            <a:prstGeom prst="right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F7CAAC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7" name="Google Shape;277;p3" title="Círculo de fono de trimestre"/>
            <p:cNvSpPr/>
            <p:nvPr/>
          </p:nvSpPr>
          <p:spPr>
            <a:xfrm>
              <a:off x="2913639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8" name="Google Shape;278;p3" title="Círculo de fono de trimestre"/>
            <p:cNvSpPr/>
            <p:nvPr/>
          </p:nvSpPr>
          <p:spPr>
            <a:xfrm>
              <a:off x="2256010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9" name="Google Shape;279;p3" title="Círculo de fono de trimestre"/>
            <p:cNvSpPr/>
            <p:nvPr/>
          </p:nvSpPr>
          <p:spPr>
            <a:xfrm>
              <a:off x="1611747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0" name="Google Shape;280;p3" title="Círculo de fono de trimestre"/>
            <p:cNvSpPr/>
            <p:nvPr/>
          </p:nvSpPr>
          <p:spPr>
            <a:xfrm>
              <a:off x="965783" y="3403274"/>
              <a:ext cx="211582" cy="2115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281" name="Google Shape;281;p3" title="Líneas de T"/>
            <p:cNvCxnSpPr/>
            <p:nvPr/>
          </p:nvCxnSpPr>
          <p:spPr>
            <a:xfrm>
              <a:off x="1067475" y="3119046"/>
              <a:ext cx="0" cy="165471"/>
            </a:xfrm>
            <a:prstGeom prst="straightConnector1">
              <a:avLst/>
            </a:prstGeom>
            <a:noFill/>
            <a:ln cap="flat" cmpd="sng" w="15875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2" name="Google Shape;282;p3" title="Líneas de T"/>
            <p:cNvCxnSpPr/>
            <p:nvPr/>
          </p:nvCxnSpPr>
          <p:spPr>
            <a:xfrm>
              <a:off x="2362259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" name="Google Shape;283;p3" title="Líneas de T"/>
            <p:cNvCxnSpPr/>
            <p:nvPr/>
          </p:nvCxnSpPr>
          <p:spPr>
            <a:xfrm>
              <a:off x="3009651" y="3119046"/>
              <a:ext cx="0" cy="165471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84" name="Google Shape;284;p3" title="Número de trimestre"/>
            <p:cNvSpPr txBox="1"/>
            <p:nvPr/>
          </p:nvSpPr>
          <p:spPr>
            <a:xfrm>
              <a:off x="926650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T1</a:t>
              </a:r>
              <a:endParaRPr sz="1000">
                <a:solidFill>
                  <a:srgbClr val="BFBFB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5" name="Google Shape;285;p3" title="Número de trimestre"/>
            <p:cNvSpPr txBox="1"/>
            <p:nvPr/>
          </p:nvSpPr>
          <p:spPr>
            <a:xfrm>
              <a:off x="1574165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T2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6" name="Google Shape;286;p3" title="Número de trimestre"/>
            <p:cNvSpPr txBox="1"/>
            <p:nvPr/>
          </p:nvSpPr>
          <p:spPr>
            <a:xfrm>
              <a:off x="2221680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T3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7" name="Google Shape;287;p3" title="Número de trimestre"/>
            <p:cNvSpPr txBox="1"/>
            <p:nvPr/>
          </p:nvSpPr>
          <p:spPr>
            <a:xfrm>
              <a:off x="2869195" y="3431169"/>
              <a:ext cx="288000" cy="1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000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T4</a:t>
              </a:r>
              <a:endParaRPr sz="10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88" name="Google Shape;288;p3"/>
          <p:cNvSpPr txBox="1"/>
          <p:nvPr/>
        </p:nvSpPr>
        <p:spPr>
          <a:xfrm>
            <a:off x="9210722" y="6234528"/>
            <a:ext cx="19577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(Kotler, 2010, p. 44) </a:t>
            </a:r>
            <a:endParaRPr/>
          </a:p>
        </p:txBody>
      </p:sp>
      <p:sp>
        <p:nvSpPr>
          <p:cNvPr id="289" name="Google Shape;289;p3"/>
          <p:cNvSpPr txBox="1"/>
          <p:nvPr/>
        </p:nvSpPr>
        <p:spPr>
          <a:xfrm>
            <a:off x="1337891" y="2181165"/>
            <a:ext cx="497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"/>
          <p:cNvSpPr txBox="1"/>
          <p:nvPr/>
        </p:nvSpPr>
        <p:spPr>
          <a:xfrm>
            <a:off x="4617805" y="2161289"/>
            <a:ext cx="497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"/>
          <p:cNvSpPr txBox="1"/>
          <p:nvPr/>
        </p:nvSpPr>
        <p:spPr>
          <a:xfrm>
            <a:off x="6996571" y="4394281"/>
            <a:ext cx="497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"/>
          <p:cNvSpPr txBox="1"/>
          <p:nvPr/>
        </p:nvSpPr>
        <p:spPr>
          <a:xfrm>
            <a:off x="3266077" y="4480421"/>
            <a:ext cx="497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648771" y="4500301"/>
            <a:ext cx="497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4"/>
          <p:cNvGrpSpPr/>
          <p:nvPr/>
        </p:nvGrpSpPr>
        <p:grpSpPr>
          <a:xfrm>
            <a:off x="3066349" y="1773075"/>
            <a:ext cx="2010919" cy="1562829"/>
            <a:chOff x="685800" y="533400"/>
            <a:chExt cx="4059994" cy="2700346"/>
          </a:xfrm>
        </p:grpSpPr>
        <p:sp>
          <p:nvSpPr>
            <p:cNvPr id="299" name="Google Shape;299;p4"/>
            <p:cNvSpPr/>
            <p:nvPr/>
          </p:nvSpPr>
          <p:spPr>
            <a:xfrm rot="-120000">
              <a:off x="813030" y="612243"/>
              <a:ext cx="3889375" cy="2554412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685800" y="533400"/>
              <a:ext cx="3965575" cy="2604458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rgbClr val="C9C9C9"/>
                </a:gs>
                <a:gs pos="100000">
                  <a:srgbClr val="C9C9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Ethical Hacker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 un hacker que burla la seguridad informática de una organización para informar grietas y proponer mejoras de seguridad.</a:t>
              </a:r>
              <a:endParaRPr/>
            </a:p>
          </p:txBody>
        </p:sp>
      </p:grpSp>
      <p:grpSp>
        <p:nvGrpSpPr>
          <p:cNvPr id="301" name="Google Shape;301;p4"/>
          <p:cNvGrpSpPr/>
          <p:nvPr/>
        </p:nvGrpSpPr>
        <p:grpSpPr>
          <a:xfrm rot="-267228">
            <a:off x="830476" y="3625580"/>
            <a:ext cx="2010919" cy="1562829"/>
            <a:chOff x="685800" y="533400"/>
            <a:chExt cx="4059994" cy="2700346"/>
          </a:xfrm>
        </p:grpSpPr>
        <p:sp>
          <p:nvSpPr>
            <p:cNvPr id="302" name="Google Shape;302;p4"/>
            <p:cNvSpPr/>
            <p:nvPr/>
          </p:nvSpPr>
          <p:spPr>
            <a:xfrm rot="-120000">
              <a:off x="813030" y="612243"/>
              <a:ext cx="3889375" cy="2554412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685800" y="533400"/>
              <a:ext cx="3965575" cy="2604458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rgbClr val="F4B081"/>
                </a:gs>
                <a:gs pos="100000">
                  <a:srgbClr val="F4B08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de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Videojuegos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Son desarrolladores de software para diferentes plataformas.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4"/>
          <p:cNvGrpSpPr/>
          <p:nvPr/>
        </p:nvGrpSpPr>
        <p:grpSpPr>
          <a:xfrm>
            <a:off x="841640" y="1789741"/>
            <a:ext cx="2014638" cy="1557165"/>
            <a:chOff x="63500" y="1058435"/>
            <a:chExt cx="2014638" cy="1557165"/>
          </a:xfrm>
        </p:grpSpPr>
        <p:sp>
          <p:nvSpPr>
            <p:cNvPr id="305" name="Google Shape;305;p4"/>
            <p:cNvSpPr/>
            <p:nvPr/>
          </p:nvSpPr>
          <p:spPr>
            <a:xfrm rot="-120000">
              <a:off x="126517" y="1104066"/>
              <a:ext cx="1926411" cy="1478369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63500" y="1058435"/>
              <a:ext cx="1964153" cy="1507334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31000">
                  <a:srgbClr val="A8D08C"/>
                </a:gs>
                <a:gs pos="100000">
                  <a:srgbClr val="A8D08C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s-MX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Android Developer</a:t>
              </a:r>
              <a:endParaRPr i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Profesional dedicado al diseño, desarrollo y/o mantenimiento de programas y aplicaciones para dispositivos Android, se requiere que domine leguajes como Java y XML..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4"/>
          <p:cNvGrpSpPr/>
          <p:nvPr/>
        </p:nvGrpSpPr>
        <p:grpSpPr>
          <a:xfrm rot="-188795">
            <a:off x="3099184" y="3480558"/>
            <a:ext cx="1963475" cy="1562829"/>
            <a:chOff x="685800" y="533400"/>
            <a:chExt cx="4059994" cy="2700346"/>
          </a:xfrm>
        </p:grpSpPr>
        <p:sp>
          <p:nvSpPr>
            <p:cNvPr id="308" name="Google Shape;308;p4"/>
            <p:cNvSpPr/>
            <p:nvPr/>
          </p:nvSpPr>
          <p:spPr>
            <a:xfrm rot="-120000">
              <a:off x="813030" y="612243"/>
              <a:ext cx="3889375" cy="2554412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685800" y="533400"/>
              <a:ext cx="3965575" cy="2604458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1000">
                  <a:srgbClr val="FFD966"/>
                </a:gs>
                <a:gs pos="100000">
                  <a:srgbClr val="FFD966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s-MX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UX Designer</a:t>
              </a:r>
              <a:endParaRPr b="1" i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Profesional que desarrolla productos, servicios y procesos, pensando en la experiencia del usuario antes, durante y después de la interacción.</a:t>
              </a:r>
              <a:endParaRPr/>
            </a:p>
          </p:txBody>
        </p:sp>
      </p:grpSp>
      <p:sp>
        <p:nvSpPr>
          <p:cNvPr id="310" name="Google Shape;310;p4"/>
          <p:cNvSpPr txBox="1"/>
          <p:nvPr/>
        </p:nvSpPr>
        <p:spPr>
          <a:xfrm>
            <a:off x="1152939" y="1126435"/>
            <a:ext cx="3428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Nuevas profesiones en informática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5"/>
          <p:cNvGrpSpPr/>
          <p:nvPr/>
        </p:nvGrpSpPr>
        <p:grpSpPr>
          <a:xfrm rot="-188795">
            <a:off x="2832934" y="2058992"/>
            <a:ext cx="2010919" cy="1562829"/>
            <a:chOff x="685800" y="533400"/>
            <a:chExt cx="4059994" cy="2700346"/>
          </a:xfrm>
        </p:grpSpPr>
        <p:sp>
          <p:nvSpPr>
            <p:cNvPr id="316" name="Google Shape;316;p5"/>
            <p:cNvSpPr/>
            <p:nvPr/>
          </p:nvSpPr>
          <p:spPr>
            <a:xfrm rot="-120000">
              <a:off x="813030" y="612243"/>
              <a:ext cx="3889375" cy="2554412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685800" y="533400"/>
              <a:ext cx="3965575" cy="2604458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31000">
                  <a:srgbClr val="8DA9DB"/>
                </a:gs>
                <a:gs pos="100000">
                  <a:srgbClr val="8DA9DB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Backend developer</a:t>
              </a:r>
              <a:endPara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de arquitecturas de base de datos y de almacenamiento en la nube de páginas Web.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5"/>
          <p:cNvGrpSpPr/>
          <p:nvPr/>
        </p:nvGrpSpPr>
        <p:grpSpPr>
          <a:xfrm>
            <a:off x="9719229" y="3139780"/>
            <a:ext cx="2010919" cy="1562829"/>
            <a:chOff x="685800" y="533400"/>
            <a:chExt cx="4059994" cy="2700346"/>
          </a:xfrm>
        </p:grpSpPr>
        <p:sp>
          <p:nvSpPr>
            <p:cNvPr id="319" name="Google Shape;319;p5"/>
            <p:cNvSpPr/>
            <p:nvPr/>
          </p:nvSpPr>
          <p:spPr>
            <a:xfrm rot="-120000">
              <a:off x="813030" y="612243"/>
              <a:ext cx="3889375" cy="2554412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685800" y="533400"/>
              <a:ext cx="3965575" cy="2604458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rgbClr val="C9C9C9"/>
                </a:gs>
                <a:gs pos="100000">
                  <a:srgbClr val="C9C9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Customer intelligence analyst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Profesionista que obtiene y analiza información relativa a los clientes para construir relaciones más profundas y efectivas.</a:t>
              </a:r>
              <a:endParaRPr/>
            </a:p>
          </p:txBody>
        </p:sp>
      </p:grpSp>
      <p:grpSp>
        <p:nvGrpSpPr>
          <p:cNvPr id="321" name="Google Shape;321;p5"/>
          <p:cNvGrpSpPr/>
          <p:nvPr/>
        </p:nvGrpSpPr>
        <p:grpSpPr>
          <a:xfrm rot="-267228">
            <a:off x="7483356" y="4992285"/>
            <a:ext cx="2010919" cy="1562829"/>
            <a:chOff x="685800" y="533400"/>
            <a:chExt cx="4059994" cy="2700346"/>
          </a:xfrm>
        </p:grpSpPr>
        <p:sp>
          <p:nvSpPr>
            <p:cNvPr id="322" name="Google Shape;322;p5"/>
            <p:cNvSpPr/>
            <p:nvPr/>
          </p:nvSpPr>
          <p:spPr>
            <a:xfrm rot="-120000">
              <a:off x="813030" y="612243"/>
              <a:ext cx="3889375" cy="2554412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685800" y="533400"/>
              <a:ext cx="3965575" cy="2604458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rgbClr val="F4B081"/>
                </a:gs>
                <a:gs pos="100000">
                  <a:srgbClr val="F4B08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Digital account manager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Profesional dencargado de la creación y control de las estrategias de comunicación en el marketing digital.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5"/>
          <p:cNvSpPr/>
          <p:nvPr/>
        </p:nvSpPr>
        <p:spPr>
          <a:xfrm>
            <a:off x="566850" y="2116861"/>
            <a:ext cx="1981348" cy="1451603"/>
          </a:xfrm>
          <a:custGeom>
            <a:rect b="b" l="l" r="r" t="t"/>
            <a:pathLst>
              <a:path extrusionOk="0" h="2145" w="3266">
                <a:moveTo>
                  <a:pt x="3266" y="105"/>
                </a:moveTo>
                <a:lnTo>
                  <a:pt x="3266" y="355"/>
                </a:lnTo>
                <a:lnTo>
                  <a:pt x="3266" y="355"/>
                </a:lnTo>
                <a:lnTo>
                  <a:pt x="3257" y="494"/>
                </a:lnTo>
                <a:lnTo>
                  <a:pt x="3246" y="623"/>
                </a:lnTo>
                <a:lnTo>
                  <a:pt x="3236" y="753"/>
                </a:lnTo>
                <a:lnTo>
                  <a:pt x="3236" y="753"/>
                </a:lnTo>
                <a:lnTo>
                  <a:pt x="3225" y="859"/>
                </a:lnTo>
                <a:lnTo>
                  <a:pt x="3213" y="1039"/>
                </a:lnTo>
                <a:lnTo>
                  <a:pt x="3181" y="1509"/>
                </a:lnTo>
                <a:lnTo>
                  <a:pt x="3138" y="2145"/>
                </a:lnTo>
                <a:lnTo>
                  <a:pt x="3138" y="2145"/>
                </a:lnTo>
                <a:lnTo>
                  <a:pt x="2054" y="2111"/>
                </a:lnTo>
                <a:lnTo>
                  <a:pt x="1241" y="2084"/>
                </a:lnTo>
                <a:lnTo>
                  <a:pt x="733" y="2067"/>
                </a:lnTo>
                <a:lnTo>
                  <a:pt x="733" y="2067"/>
                </a:lnTo>
                <a:lnTo>
                  <a:pt x="611" y="2061"/>
                </a:lnTo>
                <a:lnTo>
                  <a:pt x="486" y="2054"/>
                </a:lnTo>
                <a:lnTo>
                  <a:pt x="248" y="2037"/>
                </a:lnTo>
                <a:lnTo>
                  <a:pt x="0" y="2017"/>
                </a:lnTo>
                <a:lnTo>
                  <a:pt x="0" y="2017"/>
                </a:lnTo>
                <a:lnTo>
                  <a:pt x="110" y="597"/>
                </a:lnTo>
                <a:lnTo>
                  <a:pt x="110" y="597"/>
                </a:lnTo>
                <a:lnTo>
                  <a:pt x="121" y="449"/>
                </a:lnTo>
                <a:lnTo>
                  <a:pt x="130" y="327"/>
                </a:lnTo>
                <a:lnTo>
                  <a:pt x="135" y="211"/>
                </a:lnTo>
                <a:lnTo>
                  <a:pt x="153" y="0"/>
                </a:lnTo>
                <a:lnTo>
                  <a:pt x="3266" y="10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31000">
                <a:srgbClr val="9CC2E5"/>
              </a:gs>
              <a:gs pos="100000">
                <a:srgbClr val="9CC2E5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Desarrollador de Apps IOS y Android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de diseñar aplicaciones para dispositivos móviles en los sistemas IOS y Android.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" name="Google Shape;325;p5"/>
          <p:cNvGrpSpPr/>
          <p:nvPr/>
        </p:nvGrpSpPr>
        <p:grpSpPr>
          <a:xfrm>
            <a:off x="7494520" y="3156446"/>
            <a:ext cx="2014638" cy="1557165"/>
            <a:chOff x="63500" y="1058435"/>
            <a:chExt cx="2014638" cy="1557165"/>
          </a:xfrm>
        </p:grpSpPr>
        <p:sp>
          <p:nvSpPr>
            <p:cNvPr id="326" name="Google Shape;326;p5"/>
            <p:cNvSpPr/>
            <p:nvPr/>
          </p:nvSpPr>
          <p:spPr>
            <a:xfrm rot="-120000">
              <a:off x="126517" y="1104066"/>
              <a:ext cx="1926411" cy="1478369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63500" y="1058435"/>
              <a:ext cx="1964153" cy="1507334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31000">
                  <a:srgbClr val="A8D08C"/>
                </a:gs>
                <a:gs pos="100000">
                  <a:srgbClr val="A8D08C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s-MX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Traffic manager</a:t>
              </a:r>
              <a:endParaRPr i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Profesionista encargado del control, gestión y seguimiento del tráfico de una página Web.</a:t>
              </a:r>
              <a:endParaRPr/>
            </a:p>
          </p:txBody>
        </p:sp>
      </p:grpSp>
      <p:grpSp>
        <p:nvGrpSpPr>
          <p:cNvPr id="328" name="Google Shape;328;p5"/>
          <p:cNvGrpSpPr/>
          <p:nvPr/>
        </p:nvGrpSpPr>
        <p:grpSpPr>
          <a:xfrm rot="-188795">
            <a:off x="9752064" y="4847263"/>
            <a:ext cx="1963475" cy="1562829"/>
            <a:chOff x="685800" y="533400"/>
            <a:chExt cx="4059994" cy="2700346"/>
          </a:xfrm>
        </p:grpSpPr>
        <p:sp>
          <p:nvSpPr>
            <p:cNvPr id="329" name="Google Shape;329;p5"/>
            <p:cNvSpPr/>
            <p:nvPr/>
          </p:nvSpPr>
          <p:spPr>
            <a:xfrm rot="-120000">
              <a:off x="813030" y="612243"/>
              <a:ext cx="3889375" cy="2554412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685800" y="533400"/>
              <a:ext cx="3965575" cy="2604458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1000">
                  <a:srgbClr val="FFD966"/>
                </a:gs>
                <a:gs pos="100000">
                  <a:srgbClr val="FFD966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s-MX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Chief information security officer (CISO)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Director de la seguridad de la información en una organización.</a:t>
              </a:r>
              <a:endParaRPr/>
            </a:p>
          </p:txBody>
        </p:sp>
      </p:grpSp>
      <p:sp>
        <p:nvSpPr>
          <p:cNvPr id="331" name="Google Shape;331;p5"/>
          <p:cNvSpPr txBox="1"/>
          <p:nvPr/>
        </p:nvSpPr>
        <p:spPr>
          <a:xfrm>
            <a:off x="2897088" y="754244"/>
            <a:ext cx="3305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Nuevas profesiones en marketing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2" name="Google Shape;332;p5"/>
          <p:cNvGrpSpPr/>
          <p:nvPr/>
        </p:nvGrpSpPr>
        <p:grpSpPr>
          <a:xfrm rot="-188795">
            <a:off x="2806783" y="3680768"/>
            <a:ext cx="2010919" cy="1562829"/>
            <a:chOff x="685800" y="533400"/>
            <a:chExt cx="4059994" cy="2700346"/>
          </a:xfrm>
        </p:grpSpPr>
        <p:sp>
          <p:nvSpPr>
            <p:cNvPr id="333" name="Google Shape;333;p5"/>
            <p:cNvSpPr/>
            <p:nvPr/>
          </p:nvSpPr>
          <p:spPr>
            <a:xfrm rot="-120000">
              <a:off x="813030" y="612243"/>
              <a:ext cx="3889375" cy="2554412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685800" y="533400"/>
              <a:ext cx="3965575" cy="2604458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31000">
                  <a:srgbClr val="8DA9DB"/>
                </a:gs>
                <a:gs pos="100000">
                  <a:srgbClr val="8DA9DB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Modelador y animador 3D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Programador de proyectos de realidad aumentada.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5"/>
          <p:cNvSpPr/>
          <p:nvPr/>
        </p:nvSpPr>
        <p:spPr>
          <a:xfrm>
            <a:off x="540699" y="3738637"/>
            <a:ext cx="1981348" cy="1451603"/>
          </a:xfrm>
          <a:custGeom>
            <a:rect b="b" l="l" r="r" t="t"/>
            <a:pathLst>
              <a:path extrusionOk="0" h="2145" w="3266">
                <a:moveTo>
                  <a:pt x="3266" y="105"/>
                </a:moveTo>
                <a:lnTo>
                  <a:pt x="3266" y="355"/>
                </a:lnTo>
                <a:lnTo>
                  <a:pt x="3266" y="355"/>
                </a:lnTo>
                <a:lnTo>
                  <a:pt x="3257" y="494"/>
                </a:lnTo>
                <a:lnTo>
                  <a:pt x="3246" y="623"/>
                </a:lnTo>
                <a:lnTo>
                  <a:pt x="3236" y="753"/>
                </a:lnTo>
                <a:lnTo>
                  <a:pt x="3236" y="753"/>
                </a:lnTo>
                <a:lnTo>
                  <a:pt x="3225" y="859"/>
                </a:lnTo>
                <a:lnTo>
                  <a:pt x="3213" y="1039"/>
                </a:lnTo>
                <a:lnTo>
                  <a:pt x="3181" y="1509"/>
                </a:lnTo>
                <a:lnTo>
                  <a:pt x="3138" y="2145"/>
                </a:lnTo>
                <a:lnTo>
                  <a:pt x="3138" y="2145"/>
                </a:lnTo>
                <a:lnTo>
                  <a:pt x="2054" y="2111"/>
                </a:lnTo>
                <a:lnTo>
                  <a:pt x="1241" y="2084"/>
                </a:lnTo>
                <a:lnTo>
                  <a:pt x="733" y="2067"/>
                </a:lnTo>
                <a:lnTo>
                  <a:pt x="733" y="2067"/>
                </a:lnTo>
                <a:lnTo>
                  <a:pt x="611" y="2061"/>
                </a:lnTo>
                <a:lnTo>
                  <a:pt x="486" y="2054"/>
                </a:lnTo>
                <a:lnTo>
                  <a:pt x="248" y="2037"/>
                </a:lnTo>
                <a:lnTo>
                  <a:pt x="0" y="2017"/>
                </a:lnTo>
                <a:lnTo>
                  <a:pt x="0" y="2017"/>
                </a:lnTo>
                <a:lnTo>
                  <a:pt x="110" y="597"/>
                </a:lnTo>
                <a:lnTo>
                  <a:pt x="110" y="597"/>
                </a:lnTo>
                <a:lnTo>
                  <a:pt x="121" y="449"/>
                </a:lnTo>
                <a:lnTo>
                  <a:pt x="130" y="327"/>
                </a:lnTo>
                <a:lnTo>
                  <a:pt x="135" y="211"/>
                </a:lnTo>
                <a:lnTo>
                  <a:pt x="153" y="0"/>
                </a:lnTo>
                <a:lnTo>
                  <a:pt x="3266" y="10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31000">
                <a:srgbClr val="9CC2E5"/>
              </a:gs>
              <a:gs pos="100000">
                <a:srgbClr val="9CC2E5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Diseñador de UI/UX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Profesionista responsable de diseñar interfaces basados en la experiencia del usuario, así como de productos digitales para móviles y escritorio.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6" name="Google Shape;336;p5"/>
          <p:cNvGrpSpPr/>
          <p:nvPr/>
        </p:nvGrpSpPr>
        <p:grpSpPr>
          <a:xfrm rot="-188795">
            <a:off x="4952469" y="2316768"/>
            <a:ext cx="2010919" cy="1562829"/>
            <a:chOff x="685800" y="533400"/>
            <a:chExt cx="4059994" cy="2700346"/>
          </a:xfrm>
        </p:grpSpPr>
        <p:sp>
          <p:nvSpPr>
            <p:cNvPr id="337" name="Google Shape;337;p5"/>
            <p:cNvSpPr/>
            <p:nvPr/>
          </p:nvSpPr>
          <p:spPr>
            <a:xfrm rot="-120000">
              <a:off x="813030" y="612243"/>
              <a:ext cx="3889375" cy="2554412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58039"/>
                  </a:srgbClr>
                </a:gs>
                <a:gs pos="100000">
                  <a:srgbClr val="94949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685800" y="533400"/>
              <a:ext cx="3965575" cy="2604458"/>
            </a:xfrm>
            <a:custGeom>
              <a:rect b="b" l="l" r="r" t="t"/>
              <a:pathLst>
                <a:path extrusionOk="0" h="2145" w="3266">
                  <a:moveTo>
                    <a:pt x="3266" y="105"/>
                  </a:moveTo>
                  <a:lnTo>
                    <a:pt x="3266" y="355"/>
                  </a:lnTo>
                  <a:lnTo>
                    <a:pt x="3266" y="355"/>
                  </a:lnTo>
                  <a:lnTo>
                    <a:pt x="3257" y="494"/>
                  </a:lnTo>
                  <a:lnTo>
                    <a:pt x="3246" y="623"/>
                  </a:lnTo>
                  <a:lnTo>
                    <a:pt x="3236" y="753"/>
                  </a:lnTo>
                  <a:lnTo>
                    <a:pt x="3236" y="753"/>
                  </a:lnTo>
                  <a:lnTo>
                    <a:pt x="3225" y="859"/>
                  </a:lnTo>
                  <a:lnTo>
                    <a:pt x="3213" y="1039"/>
                  </a:lnTo>
                  <a:lnTo>
                    <a:pt x="3181" y="1509"/>
                  </a:lnTo>
                  <a:lnTo>
                    <a:pt x="3138" y="2145"/>
                  </a:lnTo>
                  <a:lnTo>
                    <a:pt x="3138" y="2145"/>
                  </a:lnTo>
                  <a:lnTo>
                    <a:pt x="2054" y="2111"/>
                  </a:lnTo>
                  <a:lnTo>
                    <a:pt x="1241" y="2084"/>
                  </a:lnTo>
                  <a:lnTo>
                    <a:pt x="733" y="2067"/>
                  </a:lnTo>
                  <a:lnTo>
                    <a:pt x="733" y="2067"/>
                  </a:lnTo>
                  <a:lnTo>
                    <a:pt x="611" y="2061"/>
                  </a:lnTo>
                  <a:lnTo>
                    <a:pt x="486" y="2054"/>
                  </a:lnTo>
                  <a:lnTo>
                    <a:pt x="248" y="2037"/>
                  </a:lnTo>
                  <a:lnTo>
                    <a:pt x="0" y="2017"/>
                  </a:lnTo>
                  <a:lnTo>
                    <a:pt x="0" y="2017"/>
                  </a:lnTo>
                  <a:lnTo>
                    <a:pt x="110" y="597"/>
                  </a:lnTo>
                  <a:lnTo>
                    <a:pt x="110" y="597"/>
                  </a:lnTo>
                  <a:lnTo>
                    <a:pt x="121" y="449"/>
                  </a:lnTo>
                  <a:lnTo>
                    <a:pt x="130" y="327"/>
                  </a:lnTo>
                  <a:lnTo>
                    <a:pt x="135" y="211"/>
                  </a:lnTo>
                  <a:lnTo>
                    <a:pt x="153" y="0"/>
                  </a:lnTo>
                  <a:lnTo>
                    <a:pt x="3266" y="1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31000">
                  <a:srgbClr val="8DA9DB"/>
                </a:gs>
                <a:gs pos="100000">
                  <a:srgbClr val="8DA9DB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Web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Profesional especializado en diseñar, construir y programar páginas en Internet.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Círculo grande de color de jerarquía de segundo nivel" id="343" name="Google Shape;343;p6"/>
          <p:cNvSpPr/>
          <p:nvPr/>
        </p:nvSpPr>
        <p:spPr>
          <a:xfrm>
            <a:off x="3223816" y="2352319"/>
            <a:ext cx="1980000" cy="1980000"/>
          </a:xfrm>
          <a:prstGeom prst="ellipse">
            <a:avLst/>
          </a:prstGeom>
          <a:solidFill>
            <a:srgbClr val="A8D08C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grande de color de jerarquía de segundo nivel" id="344" name="Google Shape;344;p6"/>
          <p:cNvSpPr/>
          <p:nvPr/>
        </p:nvSpPr>
        <p:spPr>
          <a:xfrm>
            <a:off x="7037076" y="3040141"/>
            <a:ext cx="1980000" cy="1980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grande de color de jerarquía de segundo nivel" id="345" name="Google Shape;345;p6"/>
          <p:cNvSpPr/>
          <p:nvPr/>
        </p:nvSpPr>
        <p:spPr>
          <a:xfrm>
            <a:off x="6444530" y="4425522"/>
            <a:ext cx="1980000" cy="1980000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grande de color de jerarquía de segundo nivel" id="346" name="Google Shape;346;p6"/>
          <p:cNvSpPr/>
          <p:nvPr/>
        </p:nvSpPr>
        <p:spPr>
          <a:xfrm>
            <a:off x="6444530" y="1763284"/>
            <a:ext cx="1980000" cy="1980000"/>
          </a:xfrm>
          <a:prstGeom prst="ellipse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grande de color de jerarquía de segundo nivel" id="347" name="Google Shape;347;p6"/>
          <p:cNvSpPr/>
          <p:nvPr/>
        </p:nvSpPr>
        <p:spPr>
          <a:xfrm>
            <a:off x="4425980" y="4532267"/>
            <a:ext cx="1980000" cy="198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grande de color de jerarquía de segundo nivel" id="348" name="Google Shape;348;p6"/>
          <p:cNvSpPr/>
          <p:nvPr/>
        </p:nvSpPr>
        <p:spPr>
          <a:xfrm>
            <a:off x="4822340" y="1628119"/>
            <a:ext cx="1980000" cy="1980000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nivel medio" id="349" name="Google Shape;349;p6"/>
          <p:cNvSpPr/>
          <p:nvPr/>
        </p:nvSpPr>
        <p:spPr>
          <a:xfrm>
            <a:off x="3776663" y="1744399"/>
            <a:ext cx="4638675" cy="4638675"/>
          </a:xfrm>
          <a:prstGeom prst="ellipse">
            <a:avLst/>
          </a:prstGeom>
          <a:solidFill>
            <a:srgbClr val="F2F2F2">
              <a:alpha val="67843"/>
            </a:srgbClr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nivel alto" id="350" name="Google Shape;350;p6"/>
          <p:cNvSpPr/>
          <p:nvPr/>
        </p:nvSpPr>
        <p:spPr>
          <a:xfrm>
            <a:off x="4636294" y="2604030"/>
            <a:ext cx="2919412" cy="2919412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 txBox="1"/>
          <p:nvPr/>
        </p:nvSpPr>
        <p:spPr>
          <a:xfrm>
            <a:off x="930367" y="130294"/>
            <a:ext cx="9875520" cy="625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Funciones</a:t>
            </a:r>
            <a:endParaRPr/>
          </a:p>
        </p:txBody>
      </p:sp>
      <p:sp>
        <p:nvSpPr>
          <p:cNvPr id="352" name="Google Shape;352;p6"/>
          <p:cNvSpPr/>
          <p:nvPr/>
        </p:nvSpPr>
        <p:spPr>
          <a:xfrm>
            <a:off x="4346927" y="1971114"/>
            <a:ext cx="1211797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b="1" lang="es-MX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Investigación de mercado</a:t>
            </a:r>
            <a:endParaRPr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pequeño de color de jerarquía de segundo nivel " id="353" name="Google Shape;353;p6"/>
          <p:cNvSpPr/>
          <p:nvPr/>
        </p:nvSpPr>
        <p:spPr>
          <a:xfrm>
            <a:off x="5654637" y="2562413"/>
            <a:ext cx="213490" cy="2134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pequeño de color de jerarquía de segundo nivel " id="354" name="Google Shape;354;p6"/>
          <p:cNvSpPr/>
          <p:nvPr/>
        </p:nvSpPr>
        <p:spPr>
          <a:xfrm>
            <a:off x="7026968" y="2948970"/>
            <a:ext cx="213490" cy="21349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pequeño de color de jerarquía de segundo nivel " id="355" name="Google Shape;355;p6"/>
          <p:cNvSpPr/>
          <p:nvPr/>
        </p:nvSpPr>
        <p:spPr>
          <a:xfrm>
            <a:off x="7020654" y="5004920"/>
            <a:ext cx="213490" cy="2134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pequeño de color de jerarquía de segundo nivel " id="356" name="Google Shape;356;p6"/>
          <p:cNvSpPr/>
          <p:nvPr/>
        </p:nvSpPr>
        <p:spPr>
          <a:xfrm>
            <a:off x="7448961" y="3968701"/>
            <a:ext cx="213490" cy="2134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pequeño de color de jerarquía de segundo nivel " id="357" name="Google Shape;357;p6"/>
          <p:cNvSpPr/>
          <p:nvPr/>
        </p:nvSpPr>
        <p:spPr>
          <a:xfrm>
            <a:off x="5371408" y="5308777"/>
            <a:ext cx="213490" cy="2134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descr="Líneas de conector" id="358" name="Google Shape;358;p6"/>
          <p:cNvCxnSpPr/>
          <p:nvPr/>
        </p:nvCxnSpPr>
        <p:spPr>
          <a:xfrm rot="10800000">
            <a:off x="1949981" y="2117108"/>
            <a:ext cx="2937000" cy="4332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descr="Líneas de conector" id="359" name="Google Shape;359;p6"/>
          <p:cNvCxnSpPr/>
          <p:nvPr/>
        </p:nvCxnSpPr>
        <p:spPr>
          <a:xfrm flipH="1" rot="10800000">
            <a:off x="7788835" y="2464026"/>
            <a:ext cx="2094600" cy="4332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descr="Líneas de conector" id="360" name="Google Shape;360;p6"/>
          <p:cNvCxnSpPr/>
          <p:nvPr/>
        </p:nvCxnSpPr>
        <p:spPr>
          <a:xfrm>
            <a:off x="7321564" y="5393930"/>
            <a:ext cx="2132400" cy="5286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1" name="Google Shape;361;p6"/>
          <p:cNvSpPr/>
          <p:nvPr/>
        </p:nvSpPr>
        <p:spPr>
          <a:xfrm>
            <a:off x="4785158" y="3728399"/>
            <a:ext cx="26939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3200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Mercadotecnia</a:t>
            </a:r>
            <a:endParaRPr/>
          </a:p>
        </p:txBody>
      </p:sp>
      <p:sp>
        <p:nvSpPr>
          <p:cNvPr id="362" name="Google Shape;362;p6"/>
          <p:cNvSpPr/>
          <p:nvPr/>
        </p:nvSpPr>
        <p:spPr>
          <a:xfrm>
            <a:off x="7267684" y="2352319"/>
            <a:ext cx="1211797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b="1" lang="es-MX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Promoción</a:t>
            </a:r>
            <a:endParaRPr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7768354" y="3707671"/>
            <a:ext cx="1211797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b="1" lang="es-MX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Decisiones sobre el producto</a:t>
            </a:r>
            <a:endParaRPr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6360137" y="5391124"/>
            <a:ext cx="1368837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b="1" lang="es-MX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Decisiones de precio</a:t>
            </a:r>
            <a:endParaRPr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3178699" y="3101345"/>
            <a:ext cx="1368837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b="1" lang="es-MX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Posventa</a:t>
            </a:r>
            <a:endParaRPr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grande de color de jerarquía de segundo nivel" id="366" name="Google Shape;366;p6"/>
          <p:cNvSpPr/>
          <p:nvPr/>
        </p:nvSpPr>
        <p:spPr>
          <a:xfrm>
            <a:off x="3247858" y="3561412"/>
            <a:ext cx="1980000" cy="1980000"/>
          </a:xfrm>
          <a:prstGeom prst="ellipse">
            <a:avLst/>
          </a:prstGeom>
          <a:solidFill>
            <a:srgbClr val="548135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pequeño de color de jerarquía de segundo nivel " id="367" name="Google Shape;367;p6"/>
          <p:cNvSpPr/>
          <p:nvPr/>
        </p:nvSpPr>
        <p:spPr>
          <a:xfrm>
            <a:off x="4547626" y="4275044"/>
            <a:ext cx="213490" cy="2134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írculo pequeño de color de jerarquía de segundo nivel " id="368" name="Google Shape;368;p6"/>
          <p:cNvSpPr/>
          <p:nvPr/>
        </p:nvSpPr>
        <p:spPr>
          <a:xfrm>
            <a:off x="4630038" y="3361352"/>
            <a:ext cx="213490" cy="213490"/>
          </a:xfrm>
          <a:prstGeom prst="ellipse">
            <a:avLst/>
          </a:prstGeom>
          <a:solidFill>
            <a:srgbClr val="385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6"/>
          <p:cNvSpPr/>
          <p:nvPr/>
        </p:nvSpPr>
        <p:spPr>
          <a:xfrm>
            <a:off x="3688639" y="5421658"/>
            <a:ext cx="1368837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b="1" lang="es-MX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Venta</a:t>
            </a:r>
            <a:endParaRPr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3086121" y="4401050"/>
            <a:ext cx="1368837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b="1" lang="es-MX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Distribución o plaza</a:t>
            </a:r>
            <a:endParaRPr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8387769" y="2309594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372" name="Google Shape;372;p6"/>
          <p:cNvSpPr/>
          <p:nvPr/>
        </p:nvSpPr>
        <p:spPr>
          <a:xfrm>
            <a:off x="8903287" y="3759176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373" name="Google Shape;373;p6"/>
          <p:cNvSpPr/>
          <p:nvPr/>
        </p:nvSpPr>
        <p:spPr>
          <a:xfrm>
            <a:off x="7641215" y="5456252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374" name="Google Shape;374;p6"/>
          <p:cNvSpPr/>
          <p:nvPr/>
        </p:nvSpPr>
        <p:spPr>
          <a:xfrm>
            <a:off x="4394735" y="4530727"/>
            <a:ext cx="4647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cxnSp>
        <p:nvCxnSpPr>
          <p:cNvPr descr="Líneas de conector" id="375" name="Google Shape;375;p6"/>
          <p:cNvCxnSpPr/>
          <p:nvPr/>
        </p:nvCxnSpPr>
        <p:spPr>
          <a:xfrm flipH="1">
            <a:off x="1813695" y="5559305"/>
            <a:ext cx="2956500" cy="5286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6" name="Google Shape;376;p6"/>
          <p:cNvPicPr preferRelativeResize="0"/>
          <p:nvPr/>
        </p:nvPicPr>
        <p:blipFill rotWithShape="1">
          <a:blip r:embed="rId3">
            <a:alphaModFix/>
          </a:blip>
          <a:srcRect b="0" l="22610" r="0" t="0"/>
          <a:stretch/>
        </p:blipFill>
        <p:spPr>
          <a:xfrm>
            <a:off x="2745956" y="1513515"/>
            <a:ext cx="1398391" cy="1207034"/>
          </a:xfrm>
          <a:prstGeom prst="ellipse">
            <a:avLst/>
          </a:prstGeom>
          <a:noFill/>
          <a:ln>
            <a:noFill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  <p:pic>
        <p:nvPicPr>
          <p:cNvPr id="377" name="Google Shape;377;p6"/>
          <p:cNvPicPr preferRelativeResize="0"/>
          <p:nvPr/>
        </p:nvPicPr>
        <p:blipFill rotWithShape="1">
          <a:blip r:embed="rId4">
            <a:alphaModFix/>
          </a:blip>
          <a:srcRect b="18250" l="21374" r="21767" t="15207"/>
          <a:stretch/>
        </p:blipFill>
        <p:spPr>
          <a:xfrm rot="428977">
            <a:off x="8800347" y="1545348"/>
            <a:ext cx="1561365" cy="106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6"/>
          <p:cNvPicPr preferRelativeResize="0"/>
          <p:nvPr/>
        </p:nvPicPr>
        <p:blipFill rotWithShape="1">
          <a:blip r:embed="rId5">
            <a:alphaModFix/>
          </a:blip>
          <a:srcRect b="0" l="0" r="51502" t="0"/>
          <a:stretch/>
        </p:blipFill>
        <p:spPr>
          <a:xfrm rot="1350484">
            <a:off x="8446209" y="4818220"/>
            <a:ext cx="749564" cy="1498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Líneas de conector" id="379" name="Google Shape;379;p6"/>
          <p:cNvCxnSpPr/>
          <p:nvPr/>
        </p:nvCxnSpPr>
        <p:spPr>
          <a:xfrm flipH="1">
            <a:off x="2447795" y="3237053"/>
            <a:ext cx="1759800" cy="5286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descr="Líneas de conector" id="380" name="Google Shape;380;p6"/>
          <p:cNvCxnSpPr/>
          <p:nvPr/>
        </p:nvCxnSpPr>
        <p:spPr>
          <a:xfrm>
            <a:off x="7503628" y="3790309"/>
            <a:ext cx="2132400" cy="5286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81" name="Google Shape;381;p6"/>
          <p:cNvPicPr preferRelativeResize="0"/>
          <p:nvPr/>
        </p:nvPicPr>
        <p:blipFill rotWithShape="1">
          <a:blip r:embed="rId6">
            <a:alphaModFix/>
          </a:blip>
          <a:srcRect b="0" l="19872" r="0" t="0"/>
          <a:stretch/>
        </p:blipFill>
        <p:spPr>
          <a:xfrm>
            <a:off x="9315134" y="3478317"/>
            <a:ext cx="855262" cy="125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1167022">
            <a:off x="1629740" y="5453655"/>
            <a:ext cx="2088059" cy="711408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Líneas de conector" id="383" name="Google Shape;383;p6"/>
          <p:cNvCxnSpPr/>
          <p:nvPr/>
        </p:nvCxnSpPr>
        <p:spPr>
          <a:xfrm flipH="1">
            <a:off x="2880128" y="4206377"/>
            <a:ext cx="1759800" cy="5286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84" name="Google Shape;38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13711" y="4107390"/>
            <a:ext cx="1368864" cy="88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91234" y="3053158"/>
            <a:ext cx="1446414" cy="809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7"/>
          <p:cNvSpPr/>
          <p:nvPr/>
        </p:nvSpPr>
        <p:spPr>
          <a:xfrm>
            <a:off x="1648690" y="1895042"/>
            <a:ext cx="7895360" cy="189807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Sistema de Información de Marketing</a:t>
            </a:r>
            <a:endParaRPr/>
          </a:p>
        </p:txBody>
      </p:sp>
      <p:sp>
        <p:nvSpPr>
          <p:cNvPr id="391" name="Google Shape;391;p7"/>
          <p:cNvSpPr/>
          <p:nvPr/>
        </p:nvSpPr>
        <p:spPr>
          <a:xfrm>
            <a:off x="1648690" y="1354715"/>
            <a:ext cx="7895360" cy="38792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3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Gerentes de marketing y otros usuarios de información </a:t>
            </a:r>
            <a:endParaRPr/>
          </a:p>
        </p:txBody>
      </p:sp>
      <p:sp>
        <p:nvSpPr>
          <p:cNvPr id="392" name="Google Shape;392;p7"/>
          <p:cNvSpPr/>
          <p:nvPr/>
        </p:nvSpPr>
        <p:spPr>
          <a:xfrm>
            <a:off x="3158834" y="2324533"/>
            <a:ext cx="4876799" cy="1177637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Evaluar necesidades de información</a:t>
            </a: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3394361" y="2657043"/>
            <a:ext cx="1011382" cy="706582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Bases de datos internas</a:t>
            </a:r>
            <a:endParaRPr/>
          </a:p>
        </p:txBody>
      </p:sp>
      <p:sp>
        <p:nvSpPr>
          <p:cNvPr id="394" name="Google Shape;394;p7"/>
          <p:cNvSpPr/>
          <p:nvPr/>
        </p:nvSpPr>
        <p:spPr>
          <a:xfrm>
            <a:off x="5181596" y="2698606"/>
            <a:ext cx="1011382" cy="706582"/>
          </a:xfrm>
          <a:prstGeom prst="rect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Inteligencia de Marketing</a:t>
            </a: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6837215" y="2698606"/>
            <a:ext cx="1011382" cy="706582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Investigación de marketing</a:t>
            </a:r>
            <a:endParaRPr/>
          </a:p>
        </p:txBody>
      </p:sp>
      <p:sp>
        <p:nvSpPr>
          <p:cNvPr id="396" name="Google Shape;396;p7"/>
          <p:cNvSpPr/>
          <p:nvPr/>
        </p:nvSpPr>
        <p:spPr>
          <a:xfrm>
            <a:off x="1911928" y="2490787"/>
            <a:ext cx="1011382" cy="7065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Desarrollar la información necesaria</a:t>
            </a:r>
            <a:endParaRPr/>
          </a:p>
        </p:txBody>
      </p:sp>
      <p:sp>
        <p:nvSpPr>
          <p:cNvPr id="397" name="Google Shape;397;p7"/>
          <p:cNvSpPr/>
          <p:nvPr/>
        </p:nvSpPr>
        <p:spPr>
          <a:xfrm>
            <a:off x="8363383" y="2498148"/>
            <a:ext cx="1011382" cy="7065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Análisis y uso de la información</a:t>
            </a:r>
            <a:endParaRPr/>
          </a:p>
        </p:txBody>
      </p:sp>
      <p:sp>
        <p:nvSpPr>
          <p:cNvPr id="398" name="Google Shape;398;p7"/>
          <p:cNvSpPr/>
          <p:nvPr/>
        </p:nvSpPr>
        <p:spPr>
          <a:xfrm>
            <a:off x="1648690" y="3973223"/>
            <a:ext cx="7895360" cy="94903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3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Entorno de marketing</a:t>
            </a:r>
            <a:endParaRPr/>
          </a:p>
        </p:txBody>
      </p:sp>
      <p:sp>
        <p:nvSpPr>
          <p:cNvPr id="399" name="Google Shape;399;p7"/>
          <p:cNvSpPr/>
          <p:nvPr/>
        </p:nvSpPr>
        <p:spPr>
          <a:xfrm>
            <a:off x="2075207" y="4146405"/>
            <a:ext cx="1011382" cy="7065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Mercados Meta</a:t>
            </a:r>
            <a:endParaRPr/>
          </a:p>
        </p:txBody>
      </p:sp>
      <p:sp>
        <p:nvSpPr>
          <p:cNvPr id="400" name="Google Shape;400;p7"/>
          <p:cNvSpPr/>
          <p:nvPr/>
        </p:nvSpPr>
        <p:spPr>
          <a:xfrm>
            <a:off x="3513105" y="4186232"/>
            <a:ext cx="1011382" cy="7065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Canales de marketing</a:t>
            </a:r>
            <a:endParaRPr/>
          </a:p>
        </p:txBody>
      </p:sp>
      <p:sp>
        <p:nvSpPr>
          <p:cNvPr id="401" name="Google Shape;401;p7"/>
          <p:cNvSpPr/>
          <p:nvPr/>
        </p:nvSpPr>
        <p:spPr>
          <a:xfrm>
            <a:off x="5080938" y="4209182"/>
            <a:ext cx="1163780" cy="7065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Competidores</a:t>
            </a:r>
            <a:endParaRPr/>
          </a:p>
        </p:txBody>
      </p:sp>
      <p:sp>
        <p:nvSpPr>
          <p:cNvPr id="402" name="Google Shape;402;p7"/>
          <p:cNvSpPr/>
          <p:nvPr/>
        </p:nvSpPr>
        <p:spPr>
          <a:xfrm>
            <a:off x="6688059" y="4103546"/>
            <a:ext cx="1163780" cy="7065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Públicos</a:t>
            </a:r>
            <a:endParaRPr/>
          </a:p>
        </p:txBody>
      </p:sp>
      <p:sp>
        <p:nvSpPr>
          <p:cNvPr id="403" name="Google Shape;403;p7"/>
          <p:cNvSpPr/>
          <p:nvPr/>
        </p:nvSpPr>
        <p:spPr>
          <a:xfrm>
            <a:off x="8149936" y="4129080"/>
            <a:ext cx="1163780" cy="7065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Fuerzas del macroentorno</a:t>
            </a:r>
            <a:endParaRPr sz="1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2236207" y="1562531"/>
            <a:ext cx="302633" cy="775855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8655627" y="1593705"/>
            <a:ext cx="288348" cy="775855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3653265" y="3560184"/>
            <a:ext cx="246787" cy="568034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7450706" y="3563220"/>
            <a:ext cx="246787" cy="568034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2923310" y="2844078"/>
            <a:ext cx="471051" cy="207819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4554686" y="2906424"/>
            <a:ext cx="471051" cy="207819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6267449" y="2906423"/>
            <a:ext cx="471051" cy="207819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7848161" y="2922007"/>
            <a:ext cx="471051" cy="207819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 txBox="1"/>
          <p:nvPr/>
        </p:nvSpPr>
        <p:spPr>
          <a:xfrm>
            <a:off x="3241353" y="798347"/>
            <a:ext cx="39655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de información de </a:t>
            </a:r>
            <a:r>
              <a:rPr b="1" i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/>
          </a:p>
        </p:txBody>
      </p:sp>
      <p:sp>
        <p:nvSpPr>
          <p:cNvPr id="413" name="Google Shape;413;p7"/>
          <p:cNvSpPr txBox="1"/>
          <p:nvPr/>
        </p:nvSpPr>
        <p:spPr>
          <a:xfrm>
            <a:off x="7848161" y="5102368"/>
            <a:ext cx="157286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Kotler, 2015, p. 98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"/>
          <p:cNvSpPr/>
          <p:nvPr/>
        </p:nvSpPr>
        <p:spPr>
          <a:xfrm>
            <a:off x="3882404" y="853137"/>
            <a:ext cx="786068" cy="447224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Marca</a:t>
            </a:r>
            <a:endParaRPr/>
          </a:p>
        </p:txBody>
      </p:sp>
      <p:sp>
        <p:nvSpPr>
          <p:cNvPr id="419" name="Google Shape;419;p8"/>
          <p:cNvSpPr/>
          <p:nvPr/>
        </p:nvSpPr>
        <p:spPr>
          <a:xfrm>
            <a:off x="5140440" y="870803"/>
            <a:ext cx="849330" cy="72866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Articulo</a:t>
            </a:r>
            <a:endParaRPr/>
          </a:p>
        </p:txBody>
      </p:sp>
      <p:sp>
        <p:nvSpPr>
          <p:cNvPr id="420" name="Google Shape;420;p8"/>
          <p:cNvSpPr/>
          <p:nvPr/>
        </p:nvSpPr>
        <p:spPr>
          <a:xfrm>
            <a:off x="5702515" y="1253107"/>
            <a:ext cx="836602" cy="72866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Servicio</a:t>
            </a:r>
            <a:endParaRPr/>
          </a:p>
        </p:txBody>
      </p:sp>
      <p:grpSp>
        <p:nvGrpSpPr>
          <p:cNvPr id="421" name="Google Shape;421;p8"/>
          <p:cNvGrpSpPr/>
          <p:nvPr/>
        </p:nvGrpSpPr>
        <p:grpSpPr>
          <a:xfrm>
            <a:off x="3101397" y="1449166"/>
            <a:ext cx="4005302" cy="3878149"/>
            <a:chOff x="2133600" y="914400"/>
            <a:chExt cx="4800600" cy="4648200"/>
          </a:xfrm>
        </p:grpSpPr>
        <p:sp>
          <p:nvSpPr>
            <p:cNvPr id="422" name="Google Shape;422;p8"/>
            <p:cNvSpPr/>
            <p:nvPr/>
          </p:nvSpPr>
          <p:spPr>
            <a:xfrm>
              <a:off x="3733800" y="1600200"/>
              <a:ext cx="2133600" cy="2133600"/>
            </a:xfrm>
            <a:prstGeom prst="ellipse">
              <a:avLst/>
            </a:prstGeom>
            <a:solidFill>
              <a:schemeClr val="accent3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4800600" y="3276600"/>
              <a:ext cx="2133600" cy="2133600"/>
            </a:xfrm>
            <a:prstGeom prst="ellipse">
              <a:avLst/>
            </a:prstGeom>
            <a:solidFill>
              <a:schemeClr val="accent5">
                <a:alpha val="5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2514600" y="1676400"/>
              <a:ext cx="1371600" cy="1371600"/>
            </a:xfrm>
            <a:prstGeom prst="ellipse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2133600" y="2971800"/>
              <a:ext cx="1066800" cy="1066800"/>
            </a:xfrm>
            <a:prstGeom prst="ellipse">
              <a:avLst/>
            </a:prstGeom>
            <a:solidFill>
              <a:schemeClr val="accent2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562600" y="1905000"/>
              <a:ext cx="1066800" cy="1066800"/>
            </a:xfrm>
            <a:prstGeom prst="ellipse">
              <a:avLst/>
            </a:prstGeom>
            <a:solidFill>
              <a:schemeClr val="accent4">
                <a:alpha val="3490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3733800" y="914400"/>
              <a:ext cx="1066800" cy="1066800"/>
            </a:xfrm>
            <a:prstGeom prst="ellipse">
              <a:avLst/>
            </a:prstGeom>
            <a:solidFill>
              <a:schemeClr val="accent6">
                <a:alpha val="3490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2209800" y="3429000"/>
              <a:ext cx="2133600" cy="2133600"/>
            </a:xfrm>
            <a:prstGeom prst="ellipse">
              <a:avLst/>
            </a:prstGeom>
            <a:solidFill>
              <a:srgbClr val="9CC2E5">
                <a:alpha val="5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8"/>
          <p:cNvSpPr/>
          <p:nvPr/>
        </p:nvSpPr>
        <p:spPr>
          <a:xfrm>
            <a:off x="3115818" y="2536751"/>
            <a:ext cx="1398677" cy="13986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5712651" y="2670276"/>
            <a:ext cx="1398677" cy="13986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4506212" y="1440876"/>
            <a:ext cx="1398677" cy="1398677"/>
          </a:xfrm>
          <a:prstGeom prst="ellipse">
            <a:avLst/>
          </a:prstGeom>
          <a:solidFill>
            <a:srgbClr val="C9E3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 txBox="1"/>
          <p:nvPr/>
        </p:nvSpPr>
        <p:spPr>
          <a:xfrm>
            <a:off x="4477416" y="1931738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/>
          </a:p>
        </p:txBody>
      </p:sp>
      <p:sp>
        <p:nvSpPr>
          <p:cNvPr id="433" name="Google Shape;433;p8"/>
          <p:cNvSpPr txBox="1"/>
          <p:nvPr/>
        </p:nvSpPr>
        <p:spPr>
          <a:xfrm>
            <a:off x="3101397" y="3018909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Precio</a:t>
            </a:r>
            <a:endParaRPr/>
          </a:p>
        </p:txBody>
      </p:sp>
      <p:sp>
        <p:nvSpPr>
          <p:cNvPr id="434" name="Google Shape;434;p8"/>
          <p:cNvSpPr txBox="1"/>
          <p:nvPr/>
        </p:nvSpPr>
        <p:spPr>
          <a:xfrm>
            <a:off x="5703088" y="3193558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Plaza</a:t>
            </a:r>
            <a:endParaRPr/>
          </a:p>
        </p:txBody>
      </p:sp>
      <p:sp>
        <p:nvSpPr>
          <p:cNvPr id="435" name="Google Shape;435;p8"/>
          <p:cNvSpPr/>
          <p:nvPr/>
        </p:nvSpPr>
        <p:spPr>
          <a:xfrm>
            <a:off x="4540497" y="4007804"/>
            <a:ext cx="1398677" cy="13986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 txBox="1"/>
          <p:nvPr/>
        </p:nvSpPr>
        <p:spPr>
          <a:xfrm>
            <a:off x="4519305" y="4522477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Promoción</a:t>
            </a:r>
            <a:endParaRPr/>
          </a:p>
        </p:txBody>
      </p:sp>
      <p:cxnSp>
        <p:nvCxnSpPr>
          <p:cNvPr id="437" name="Google Shape;437;p8"/>
          <p:cNvCxnSpPr>
            <a:stCxn id="429" idx="0"/>
          </p:cNvCxnSpPr>
          <p:nvPr/>
        </p:nvCxnSpPr>
        <p:spPr>
          <a:xfrm rot="-5400000">
            <a:off x="3898257" y="1894451"/>
            <a:ext cx="559200" cy="725400"/>
          </a:xfrm>
          <a:prstGeom prst="bentConnector2">
            <a:avLst/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8"/>
          <p:cNvCxnSpPr>
            <a:stCxn id="429" idx="4"/>
            <a:endCxn id="436" idx="1"/>
          </p:cNvCxnSpPr>
          <p:nvPr/>
        </p:nvCxnSpPr>
        <p:spPr>
          <a:xfrm flipH="1" rot="-5400000">
            <a:off x="3781407" y="3969178"/>
            <a:ext cx="771600" cy="704100"/>
          </a:xfrm>
          <a:prstGeom prst="bentConnector2">
            <a:avLst/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8"/>
          <p:cNvCxnSpPr>
            <a:stCxn id="436" idx="3"/>
            <a:endCxn id="430" idx="4"/>
          </p:cNvCxnSpPr>
          <p:nvPr/>
        </p:nvCxnSpPr>
        <p:spPr>
          <a:xfrm flipH="1" rot="10800000">
            <a:off x="5975572" y="4069043"/>
            <a:ext cx="436500" cy="638100"/>
          </a:xfrm>
          <a:prstGeom prst="bentConnector2">
            <a:avLst/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8"/>
          <p:cNvCxnSpPr>
            <a:stCxn id="432" idx="3"/>
            <a:endCxn id="430" idx="0"/>
          </p:cNvCxnSpPr>
          <p:nvPr/>
        </p:nvCxnSpPr>
        <p:spPr>
          <a:xfrm>
            <a:off x="5933683" y="2116404"/>
            <a:ext cx="478200" cy="553800"/>
          </a:xfrm>
          <a:prstGeom prst="bentConnector2">
            <a:avLst/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8"/>
          <p:cNvSpPr/>
          <p:nvPr/>
        </p:nvSpPr>
        <p:spPr>
          <a:xfrm>
            <a:off x="4648531" y="1518078"/>
            <a:ext cx="5533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442" name="Google Shape;442;p8"/>
          <p:cNvSpPr/>
          <p:nvPr/>
        </p:nvSpPr>
        <p:spPr>
          <a:xfrm>
            <a:off x="3386261" y="2573377"/>
            <a:ext cx="55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443" name="Google Shape;443;p8"/>
          <p:cNvSpPr/>
          <p:nvPr/>
        </p:nvSpPr>
        <p:spPr>
          <a:xfrm>
            <a:off x="6026584" y="2744401"/>
            <a:ext cx="5533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444" name="Google Shape;444;p8"/>
          <p:cNvSpPr/>
          <p:nvPr/>
        </p:nvSpPr>
        <p:spPr>
          <a:xfrm>
            <a:off x="4587083" y="4093794"/>
            <a:ext cx="5533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445" name="Google Shape;445;p8"/>
          <p:cNvSpPr/>
          <p:nvPr/>
        </p:nvSpPr>
        <p:spPr>
          <a:xfrm>
            <a:off x="4247585" y="207918"/>
            <a:ext cx="786068" cy="447224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Envase</a:t>
            </a:r>
            <a:endParaRPr/>
          </a:p>
        </p:txBody>
      </p:sp>
      <p:sp>
        <p:nvSpPr>
          <p:cNvPr id="446" name="Google Shape;446;p8"/>
          <p:cNvSpPr/>
          <p:nvPr/>
        </p:nvSpPr>
        <p:spPr>
          <a:xfrm>
            <a:off x="5140440" y="114034"/>
            <a:ext cx="858087" cy="447224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Empaque</a:t>
            </a:r>
            <a:endParaRPr/>
          </a:p>
        </p:txBody>
      </p:sp>
      <p:sp>
        <p:nvSpPr>
          <p:cNvPr id="447" name="Google Shape;447;p8"/>
          <p:cNvSpPr/>
          <p:nvPr/>
        </p:nvSpPr>
        <p:spPr>
          <a:xfrm>
            <a:off x="5921844" y="560187"/>
            <a:ext cx="930550" cy="447224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Embalaje</a:t>
            </a:r>
            <a:endParaRPr/>
          </a:p>
        </p:txBody>
      </p:sp>
      <p:cxnSp>
        <p:nvCxnSpPr>
          <p:cNvPr id="448" name="Google Shape;448;p8"/>
          <p:cNvCxnSpPr>
            <a:stCxn id="419" idx="1"/>
            <a:endCxn id="446" idx="3"/>
          </p:cNvCxnSpPr>
          <p:nvPr/>
        </p:nvCxnSpPr>
        <p:spPr>
          <a:xfrm rot="-5400000">
            <a:off x="5024522" y="736013"/>
            <a:ext cx="481800" cy="1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9" name="Google Shape;449;p8"/>
          <p:cNvCxnSpPr>
            <a:stCxn id="419" idx="1"/>
            <a:endCxn id="445" idx="4"/>
          </p:cNvCxnSpPr>
          <p:nvPr/>
        </p:nvCxnSpPr>
        <p:spPr>
          <a:xfrm flipH="1" rot="5400000">
            <a:off x="4791422" y="504113"/>
            <a:ext cx="322500" cy="624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0" name="Google Shape;450;p8"/>
          <p:cNvCxnSpPr>
            <a:stCxn id="419" idx="1"/>
            <a:endCxn id="418" idx="6"/>
          </p:cNvCxnSpPr>
          <p:nvPr/>
        </p:nvCxnSpPr>
        <p:spPr>
          <a:xfrm rot="5400000">
            <a:off x="4916972" y="728963"/>
            <a:ext cx="99300" cy="596400"/>
          </a:xfrm>
          <a:prstGeom prst="curvedConnector4">
            <a:avLst>
              <a:gd fmla="val -230212" name="adj1"/>
              <a:gd fmla="val 60424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1" name="Google Shape;451;p8"/>
          <p:cNvCxnSpPr>
            <a:stCxn id="419" idx="1"/>
            <a:endCxn id="447" idx="2"/>
          </p:cNvCxnSpPr>
          <p:nvPr/>
        </p:nvCxnSpPr>
        <p:spPr>
          <a:xfrm rot="-5400000">
            <a:off x="5496422" y="552113"/>
            <a:ext cx="193800" cy="6570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" name="Google Shape;452;p8"/>
          <p:cNvSpPr/>
          <p:nvPr/>
        </p:nvSpPr>
        <p:spPr>
          <a:xfrm>
            <a:off x="7102070" y="2484693"/>
            <a:ext cx="1017361" cy="447224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Mayorista</a:t>
            </a:r>
            <a:endParaRPr/>
          </a:p>
        </p:txBody>
      </p:sp>
      <p:sp>
        <p:nvSpPr>
          <p:cNvPr id="453" name="Google Shape;453;p8"/>
          <p:cNvSpPr/>
          <p:nvPr/>
        </p:nvSpPr>
        <p:spPr>
          <a:xfrm>
            <a:off x="7356070" y="2957130"/>
            <a:ext cx="939222" cy="447224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Minorista</a:t>
            </a:r>
            <a:endParaRPr/>
          </a:p>
        </p:txBody>
      </p:sp>
      <p:sp>
        <p:nvSpPr>
          <p:cNvPr id="454" name="Google Shape;454;p8"/>
          <p:cNvSpPr/>
          <p:nvPr/>
        </p:nvSpPr>
        <p:spPr>
          <a:xfrm>
            <a:off x="7437205" y="3496707"/>
            <a:ext cx="858087" cy="447224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Agente</a:t>
            </a:r>
            <a:endParaRPr/>
          </a:p>
        </p:txBody>
      </p:sp>
      <p:sp>
        <p:nvSpPr>
          <p:cNvPr id="455" name="Google Shape;455;p8"/>
          <p:cNvSpPr/>
          <p:nvPr/>
        </p:nvSpPr>
        <p:spPr>
          <a:xfrm>
            <a:off x="7168534" y="4103125"/>
            <a:ext cx="1126757" cy="447224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Comisionista</a:t>
            </a:r>
            <a:endParaRPr/>
          </a:p>
        </p:txBody>
      </p:sp>
      <p:cxnSp>
        <p:nvCxnSpPr>
          <p:cNvPr id="456" name="Google Shape;456;p8"/>
          <p:cNvCxnSpPr>
            <a:stCxn id="430" idx="7"/>
            <a:endCxn id="452" idx="0"/>
          </p:cNvCxnSpPr>
          <p:nvPr/>
        </p:nvCxnSpPr>
        <p:spPr>
          <a:xfrm rot="-5400000">
            <a:off x="7063546" y="2327758"/>
            <a:ext cx="390300" cy="704400"/>
          </a:xfrm>
          <a:prstGeom prst="curvedConnector3">
            <a:avLst>
              <a:gd fmla="val 158599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7" name="Google Shape;457;p8"/>
          <p:cNvCxnSpPr>
            <a:stCxn id="430" idx="6"/>
            <a:endCxn id="453" idx="2"/>
          </p:cNvCxnSpPr>
          <p:nvPr/>
        </p:nvCxnSpPr>
        <p:spPr>
          <a:xfrm flipH="1" rot="10800000">
            <a:off x="7111328" y="3180614"/>
            <a:ext cx="244800" cy="189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8" name="Google Shape;458;p8"/>
          <p:cNvCxnSpPr>
            <a:stCxn id="434" idx="3"/>
            <a:endCxn id="454" idx="2"/>
          </p:cNvCxnSpPr>
          <p:nvPr/>
        </p:nvCxnSpPr>
        <p:spPr>
          <a:xfrm>
            <a:off x="7159355" y="3378224"/>
            <a:ext cx="277800" cy="342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9" name="Google Shape;459;p8"/>
          <p:cNvCxnSpPr>
            <a:stCxn id="434" idx="3"/>
            <a:endCxn id="455" idx="1"/>
          </p:cNvCxnSpPr>
          <p:nvPr/>
        </p:nvCxnSpPr>
        <p:spPr>
          <a:xfrm>
            <a:off x="7159355" y="3378224"/>
            <a:ext cx="174300" cy="7905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0" name="Google Shape;460;p8"/>
          <p:cNvSpPr/>
          <p:nvPr/>
        </p:nvSpPr>
        <p:spPr>
          <a:xfrm>
            <a:off x="3662939" y="5559315"/>
            <a:ext cx="1127354" cy="447224"/>
          </a:xfrm>
          <a:prstGeom prst="ellipse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Al consumidor</a:t>
            </a:r>
            <a:endParaRPr/>
          </a:p>
        </p:txBody>
      </p:sp>
      <p:sp>
        <p:nvSpPr>
          <p:cNvPr id="461" name="Google Shape;461;p8"/>
          <p:cNvSpPr/>
          <p:nvPr/>
        </p:nvSpPr>
        <p:spPr>
          <a:xfrm>
            <a:off x="5341212" y="5591959"/>
            <a:ext cx="1127354" cy="447224"/>
          </a:xfrm>
          <a:prstGeom prst="ellipse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Al distribuidor</a:t>
            </a:r>
            <a:endParaRPr/>
          </a:p>
        </p:txBody>
      </p:sp>
      <p:cxnSp>
        <p:nvCxnSpPr>
          <p:cNvPr id="462" name="Google Shape;462;p8"/>
          <p:cNvCxnSpPr>
            <a:stCxn id="435" idx="3"/>
            <a:endCxn id="460" idx="0"/>
          </p:cNvCxnSpPr>
          <p:nvPr/>
        </p:nvCxnSpPr>
        <p:spPr>
          <a:xfrm rot="5400000">
            <a:off x="4307179" y="5121099"/>
            <a:ext cx="357600" cy="518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3" name="Google Shape;463;p8"/>
          <p:cNvCxnSpPr>
            <a:stCxn id="435" idx="5"/>
            <a:endCxn id="461" idx="0"/>
          </p:cNvCxnSpPr>
          <p:nvPr/>
        </p:nvCxnSpPr>
        <p:spPr>
          <a:xfrm flipH="1" rot="-5400000">
            <a:off x="5624392" y="5311599"/>
            <a:ext cx="390300" cy="170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4" name="Google Shape;464;p8"/>
          <p:cNvSpPr/>
          <p:nvPr/>
        </p:nvSpPr>
        <p:spPr>
          <a:xfrm>
            <a:off x="4227607" y="3146019"/>
            <a:ext cx="16120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Mezcla de Mercadotecnia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oogle Shape;469;p9"/>
          <p:cNvGrpSpPr/>
          <p:nvPr/>
        </p:nvGrpSpPr>
        <p:grpSpPr>
          <a:xfrm>
            <a:off x="5486400" y="1899057"/>
            <a:ext cx="4005302" cy="3878149"/>
            <a:chOff x="2133600" y="914400"/>
            <a:chExt cx="4800600" cy="4648200"/>
          </a:xfrm>
        </p:grpSpPr>
        <p:sp>
          <p:nvSpPr>
            <p:cNvPr id="470" name="Google Shape;470;p9"/>
            <p:cNvSpPr/>
            <p:nvPr/>
          </p:nvSpPr>
          <p:spPr>
            <a:xfrm>
              <a:off x="3733800" y="1600200"/>
              <a:ext cx="2133600" cy="2133600"/>
            </a:xfrm>
            <a:prstGeom prst="ellipse">
              <a:avLst/>
            </a:prstGeom>
            <a:solidFill>
              <a:schemeClr val="accent3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800600" y="3276600"/>
              <a:ext cx="2133600" cy="2133600"/>
            </a:xfrm>
            <a:prstGeom prst="ellipse">
              <a:avLst/>
            </a:prstGeom>
            <a:solidFill>
              <a:schemeClr val="accent5">
                <a:alpha val="5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2514600" y="1676400"/>
              <a:ext cx="1371600" cy="1371600"/>
            </a:xfrm>
            <a:prstGeom prst="ellipse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2133600" y="2971800"/>
              <a:ext cx="1066800" cy="1066800"/>
            </a:xfrm>
            <a:prstGeom prst="ellipse">
              <a:avLst/>
            </a:prstGeom>
            <a:solidFill>
              <a:schemeClr val="accent2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5562600" y="1905000"/>
              <a:ext cx="1066800" cy="1066800"/>
            </a:xfrm>
            <a:prstGeom prst="ellipse">
              <a:avLst/>
            </a:prstGeom>
            <a:solidFill>
              <a:schemeClr val="accent4">
                <a:alpha val="3490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3733800" y="914400"/>
              <a:ext cx="1066800" cy="1066800"/>
            </a:xfrm>
            <a:prstGeom prst="ellipse">
              <a:avLst/>
            </a:prstGeom>
            <a:solidFill>
              <a:schemeClr val="accent6">
                <a:alpha val="3490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209800" y="3429000"/>
              <a:ext cx="2133600" cy="2133600"/>
            </a:xfrm>
            <a:prstGeom prst="ellipse">
              <a:avLst/>
            </a:prstGeom>
            <a:solidFill>
              <a:srgbClr val="9CC2E5">
                <a:alpha val="5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77" name="Google Shape;477;p9"/>
          <p:cNvCxnSpPr/>
          <p:nvPr/>
        </p:nvCxnSpPr>
        <p:spPr>
          <a:xfrm flipH="1" rot="10800000">
            <a:off x="5740706" y="3671320"/>
            <a:ext cx="1418100" cy="34800"/>
          </a:xfrm>
          <a:prstGeom prst="bentConnector4">
            <a:avLst>
              <a:gd fmla="val 0" name="adj1"/>
              <a:gd fmla="val 0" name="adj2"/>
            </a:avLst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9"/>
          <p:cNvCxnSpPr>
            <a:stCxn id="479" idx="4"/>
          </p:cNvCxnSpPr>
          <p:nvPr/>
        </p:nvCxnSpPr>
        <p:spPr>
          <a:xfrm flipH="1" rot="-5400000">
            <a:off x="5956505" y="2983740"/>
            <a:ext cx="1896600" cy="670200"/>
          </a:xfrm>
          <a:prstGeom prst="bentConnector3">
            <a:avLst>
              <a:gd fmla="val 50002" name="adj1"/>
            </a:avLst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9"/>
          <p:cNvCxnSpPr>
            <a:stCxn id="481" idx="4"/>
          </p:cNvCxnSpPr>
          <p:nvPr/>
        </p:nvCxnSpPr>
        <p:spPr>
          <a:xfrm rot="5400000">
            <a:off x="7382330" y="3008410"/>
            <a:ext cx="1521000" cy="850800"/>
          </a:xfrm>
          <a:prstGeom prst="bentConnector3">
            <a:avLst>
              <a:gd fmla="val 49997" name="adj1"/>
            </a:avLst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9"/>
          <p:cNvCxnSpPr/>
          <p:nvPr/>
        </p:nvCxnSpPr>
        <p:spPr>
          <a:xfrm flipH="1">
            <a:off x="7725422" y="3482061"/>
            <a:ext cx="1130700" cy="412500"/>
          </a:xfrm>
          <a:prstGeom prst="bentConnector2">
            <a:avLst/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9"/>
          <p:cNvCxnSpPr/>
          <p:nvPr/>
        </p:nvCxnSpPr>
        <p:spPr>
          <a:xfrm rot="10800000">
            <a:off x="7701699" y="4505791"/>
            <a:ext cx="1335000" cy="508500"/>
          </a:xfrm>
          <a:prstGeom prst="bentConnector3">
            <a:avLst>
              <a:gd fmla="val 25726" name="adj1"/>
            </a:avLst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9"/>
          <p:cNvCxnSpPr/>
          <p:nvPr/>
        </p:nvCxnSpPr>
        <p:spPr>
          <a:xfrm rot="5400000">
            <a:off x="6367414" y="2781477"/>
            <a:ext cx="2441700" cy="234900"/>
          </a:xfrm>
          <a:prstGeom prst="bentConnector3">
            <a:avLst>
              <a:gd fmla="val 50001" name="adj1"/>
            </a:avLst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9"/>
          <p:cNvSpPr/>
          <p:nvPr/>
        </p:nvSpPr>
        <p:spPr>
          <a:xfrm>
            <a:off x="4554385" y="3261672"/>
            <a:ext cx="1398677" cy="1398677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9"/>
          <p:cNvSpPr/>
          <p:nvPr/>
        </p:nvSpPr>
        <p:spPr>
          <a:xfrm>
            <a:off x="4833820" y="1902781"/>
            <a:ext cx="1398677" cy="13986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9"/>
          <p:cNvSpPr/>
          <p:nvPr/>
        </p:nvSpPr>
        <p:spPr>
          <a:xfrm>
            <a:off x="8651289" y="2357490"/>
            <a:ext cx="1398677" cy="13986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9"/>
          <p:cNvSpPr/>
          <p:nvPr/>
        </p:nvSpPr>
        <p:spPr>
          <a:xfrm>
            <a:off x="8955723" y="3580827"/>
            <a:ext cx="1398677" cy="13986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5870366" y="971863"/>
            <a:ext cx="1398677" cy="13986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7868892" y="1274633"/>
            <a:ext cx="1398677" cy="13986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9"/>
          <p:cNvSpPr/>
          <p:nvPr/>
        </p:nvSpPr>
        <p:spPr>
          <a:xfrm>
            <a:off x="7006376" y="279401"/>
            <a:ext cx="1398677" cy="1398677"/>
          </a:xfrm>
          <a:prstGeom prst="ellipse">
            <a:avLst/>
          </a:prstGeom>
          <a:solidFill>
            <a:srgbClr val="C9E3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0" name="Google Shape;490;p9"/>
          <p:cNvCxnSpPr/>
          <p:nvPr/>
        </p:nvCxnSpPr>
        <p:spPr>
          <a:xfrm>
            <a:off x="5941403" y="4532751"/>
            <a:ext cx="1398600" cy="381600"/>
          </a:xfrm>
          <a:prstGeom prst="bentConnector3">
            <a:avLst>
              <a:gd fmla="val 50003" name="adj1"/>
            </a:avLst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1" name="Google Shape;491;p9"/>
          <p:cNvGrpSpPr/>
          <p:nvPr/>
        </p:nvGrpSpPr>
        <p:grpSpPr>
          <a:xfrm>
            <a:off x="6673156" y="4112406"/>
            <a:ext cx="1716558" cy="2745594"/>
            <a:chOff x="2435225" y="22552"/>
            <a:chExt cx="4273550" cy="6835448"/>
          </a:xfrm>
        </p:grpSpPr>
        <p:sp>
          <p:nvSpPr>
            <p:cNvPr id="492" name="Google Shape;492;p9"/>
            <p:cNvSpPr/>
            <p:nvPr/>
          </p:nvSpPr>
          <p:spPr>
            <a:xfrm>
              <a:off x="3413126" y="22552"/>
              <a:ext cx="2317751" cy="634999"/>
            </a:xfrm>
            <a:custGeom>
              <a:rect b="b" l="l" r="r" t="t"/>
              <a:pathLst>
                <a:path extrusionOk="0" h="400" w="1460">
                  <a:moveTo>
                    <a:pt x="1460" y="57"/>
                  </a:moveTo>
                  <a:lnTo>
                    <a:pt x="1460" y="57"/>
                  </a:lnTo>
                  <a:lnTo>
                    <a:pt x="1458" y="45"/>
                  </a:lnTo>
                  <a:lnTo>
                    <a:pt x="1454" y="35"/>
                  </a:lnTo>
                  <a:lnTo>
                    <a:pt x="1449" y="24"/>
                  </a:lnTo>
                  <a:lnTo>
                    <a:pt x="1443" y="17"/>
                  </a:lnTo>
                  <a:lnTo>
                    <a:pt x="1434" y="9"/>
                  </a:lnTo>
                  <a:lnTo>
                    <a:pt x="1424" y="4"/>
                  </a:lnTo>
                  <a:lnTo>
                    <a:pt x="1413" y="0"/>
                  </a:lnTo>
                  <a:lnTo>
                    <a:pt x="1402" y="0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47" y="0"/>
                  </a:lnTo>
                  <a:lnTo>
                    <a:pt x="35" y="4"/>
                  </a:lnTo>
                  <a:lnTo>
                    <a:pt x="26" y="9"/>
                  </a:lnTo>
                  <a:lnTo>
                    <a:pt x="17" y="17"/>
                  </a:lnTo>
                  <a:lnTo>
                    <a:pt x="11" y="24"/>
                  </a:lnTo>
                  <a:lnTo>
                    <a:pt x="4" y="35"/>
                  </a:lnTo>
                  <a:lnTo>
                    <a:pt x="2" y="45"/>
                  </a:lnTo>
                  <a:lnTo>
                    <a:pt x="0" y="57"/>
                  </a:lnTo>
                  <a:lnTo>
                    <a:pt x="0" y="400"/>
                  </a:lnTo>
                  <a:lnTo>
                    <a:pt x="1460" y="400"/>
                  </a:lnTo>
                  <a:lnTo>
                    <a:pt x="1460" y="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9"/>
            <p:cNvSpPr/>
            <p:nvPr/>
          </p:nvSpPr>
          <p:spPr>
            <a:xfrm>
              <a:off x="2435225" y="5880100"/>
              <a:ext cx="4273550" cy="977900"/>
            </a:xfrm>
            <a:custGeom>
              <a:rect b="b" l="l" r="r" t="t"/>
              <a:pathLst>
                <a:path extrusionOk="0" h="616" w="2692">
                  <a:moveTo>
                    <a:pt x="2076" y="0"/>
                  </a:moveTo>
                  <a:lnTo>
                    <a:pt x="2076" y="4"/>
                  </a:lnTo>
                  <a:lnTo>
                    <a:pt x="616" y="4"/>
                  </a:lnTo>
                  <a:lnTo>
                    <a:pt x="616" y="0"/>
                  </a:lnTo>
                  <a:lnTo>
                    <a:pt x="616" y="0"/>
                  </a:lnTo>
                  <a:lnTo>
                    <a:pt x="615" y="32"/>
                  </a:lnTo>
                  <a:lnTo>
                    <a:pt x="613" y="63"/>
                  </a:lnTo>
                  <a:lnTo>
                    <a:pt x="609" y="94"/>
                  </a:lnTo>
                  <a:lnTo>
                    <a:pt x="604" y="125"/>
                  </a:lnTo>
                  <a:lnTo>
                    <a:pt x="597" y="154"/>
                  </a:lnTo>
                  <a:lnTo>
                    <a:pt x="588" y="184"/>
                  </a:lnTo>
                  <a:lnTo>
                    <a:pt x="579" y="212"/>
                  </a:lnTo>
                  <a:lnTo>
                    <a:pt x="567" y="240"/>
                  </a:lnTo>
                  <a:lnTo>
                    <a:pt x="556" y="267"/>
                  </a:lnTo>
                  <a:lnTo>
                    <a:pt x="542" y="294"/>
                  </a:lnTo>
                  <a:lnTo>
                    <a:pt x="526" y="320"/>
                  </a:lnTo>
                  <a:lnTo>
                    <a:pt x="511" y="345"/>
                  </a:lnTo>
                  <a:lnTo>
                    <a:pt x="494" y="369"/>
                  </a:lnTo>
                  <a:lnTo>
                    <a:pt x="475" y="392"/>
                  </a:lnTo>
                  <a:lnTo>
                    <a:pt x="456" y="414"/>
                  </a:lnTo>
                  <a:lnTo>
                    <a:pt x="435" y="436"/>
                  </a:lnTo>
                  <a:lnTo>
                    <a:pt x="414" y="456"/>
                  </a:lnTo>
                  <a:lnTo>
                    <a:pt x="391" y="476"/>
                  </a:lnTo>
                  <a:lnTo>
                    <a:pt x="368" y="494"/>
                  </a:lnTo>
                  <a:lnTo>
                    <a:pt x="345" y="512"/>
                  </a:lnTo>
                  <a:lnTo>
                    <a:pt x="319" y="527"/>
                  </a:lnTo>
                  <a:lnTo>
                    <a:pt x="293" y="543"/>
                  </a:lnTo>
                  <a:lnTo>
                    <a:pt x="266" y="556"/>
                  </a:lnTo>
                  <a:lnTo>
                    <a:pt x="239" y="568"/>
                  </a:lnTo>
                  <a:lnTo>
                    <a:pt x="211" y="579"/>
                  </a:lnTo>
                  <a:lnTo>
                    <a:pt x="183" y="589"/>
                  </a:lnTo>
                  <a:lnTo>
                    <a:pt x="153" y="597"/>
                  </a:lnTo>
                  <a:lnTo>
                    <a:pt x="124" y="604"/>
                  </a:lnTo>
                  <a:lnTo>
                    <a:pt x="94" y="610"/>
                  </a:lnTo>
                  <a:lnTo>
                    <a:pt x="63" y="613"/>
                  </a:lnTo>
                  <a:lnTo>
                    <a:pt x="31" y="616"/>
                  </a:lnTo>
                  <a:lnTo>
                    <a:pt x="0" y="616"/>
                  </a:lnTo>
                  <a:lnTo>
                    <a:pt x="2692" y="616"/>
                  </a:lnTo>
                  <a:lnTo>
                    <a:pt x="2692" y="616"/>
                  </a:lnTo>
                  <a:lnTo>
                    <a:pt x="2660" y="616"/>
                  </a:lnTo>
                  <a:lnTo>
                    <a:pt x="2629" y="613"/>
                  </a:lnTo>
                  <a:lnTo>
                    <a:pt x="2598" y="610"/>
                  </a:lnTo>
                  <a:lnTo>
                    <a:pt x="2567" y="604"/>
                  </a:lnTo>
                  <a:lnTo>
                    <a:pt x="2538" y="597"/>
                  </a:lnTo>
                  <a:lnTo>
                    <a:pt x="2508" y="589"/>
                  </a:lnTo>
                  <a:lnTo>
                    <a:pt x="2480" y="579"/>
                  </a:lnTo>
                  <a:lnTo>
                    <a:pt x="2451" y="568"/>
                  </a:lnTo>
                  <a:lnTo>
                    <a:pt x="2424" y="556"/>
                  </a:lnTo>
                  <a:lnTo>
                    <a:pt x="2399" y="543"/>
                  </a:lnTo>
                  <a:lnTo>
                    <a:pt x="2372" y="527"/>
                  </a:lnTo>
                  <a:lnTo>
                    <a:pt x="2347" y="512"/>
                  </a:lnTo>
                  <a:lnTo>
                    <a:pt x="2323" y="494"/>
                  </a:lnTo>
                  <a:lnTo>
                    <a:pt x="2300" y="476"/>
                  </a:lnTo>
                  <a:lnTo>
                    <a:pt x="2278" y="456"/>
                  </a:lnTo>
                  <a:lnTo>
                    <a:pt x="2256" y="436"/>
                  </a:lnTo>
                  <a:lnTo>
                    <a:pt x="2235" y="414"/>
                  </a:lnTo>
                  <a:lnTo>
                    <a:pt x="2216" y="392"/>
                  </a:lnTo>
                  <a:lnTo>
                    <a:pt x="2198" y="369"/>
                  </a:lnTo>
                  <a:lnTo>
                    <a:pt x="2181" y="345"/>
                  </a:lnTo>
                  <a:lnTo>
                    <a:pt x="2164" y="320"/>
                  </a:lnTo>
                  <a:lnTo>
                    <a:pt x="2150" y="294"/>
                  </a:lnTo>
                  <a:lnTo>
                    <a:pt x="2136" y="267"/>
                  </a:lnTo>
                  <a:lnTo>
                    <a:pt x="2123" y="240"/>
                  </a:lnTo>
                  <a:lnTo>
                    <a:pt x="2113" y="212"/>
                  </a:lnTo>
                  <a:lnTo>
                    <a:pt x="2103" y="184"/>
                  </a:lnTo>
                  <a:lnTo>
                    <a:pt x="2095" y="154"/>
                  </a:lnTo>
                  <a:lnTo>
                    <a:pt x="2088" y="125"/>
                  </a:lnTo>
                  <a:lnTo>
                    <a:pt x="2082" y="94"/>
                  </a:lnTo>
                  <a:lnTo>
                    <a:pt x="2078" y="63"/>
                  </a:lnTo>
                  <a:lnTo>
                    <a:pt x="2076" y="32"/>
                  </a:lnTo>
                  <a:lnTo>
                    <a:pt x="2076" y="0"/>
                  </a:lnTo>
                  <a:lnTo>
                    <a:pt x="2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9"/>
            <p:cNvSpPr/>
            <p:nvPr/>
          </p:nvSpPr>
          <p:spPr>
            <a:xfrm>
              <a:off x="3413126" y="646276"/>
              <a:ext cx="2317751" cy="525145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5" name="Google Shape;495;p9"/>
          <p:cNvSpPr txBox="1"/>
          <p:nvPr/>
        </p:nvSpPr>
        <p:spPr>
          <a:xfrm>
            <a:off x="6948786" y="751291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/>
          </a:p>
        </p:txBody>
      </p:sp>
      <p:sp>
        <p:nvSpPr>
          <p:cNvPr id="496" name="Google Shape;496;p9"/>
          <p:cNvSpPr txBox="1"/>
          <p:nvPr/>
        </p:nvSpPr>
        <p:spPr>
          <a:xfrm>
            <a:off x="5843340" y="1635294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Precio</a:t>
            </a:r>
            <a:endParaRPr/>
          </a:p>
        </p:txBody>
      </p:sp>
      <p:sp>
        <p:nvSpPr>
          <p:cNvPr id="497" name="Google Shape;497;p9"/>
          <p:cNvSpPr txBox="1"/>
          <p:nvPr/>
        </p:nvSpPr>
        <p:spPr>
          <a:xfrm>
            <a:off x="7886671" y="1697876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Plaza</a:t>
            </a:r>
            <a:endParaRPr/>
          </a:p>
        </p:txBody>
      </p:sp>
      <p:sp>
        <p:nvSpPr>
          <p:cNvPr id="498" name="Google Shape;498;p9"/>
          <p:cNvSpPr txBox="1"/>
          <p:nvPr/>
        </p:nvSpPr>
        <p:spPr>
          <a:xfrm>
            <a:off x="8603423" y="2830038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Promoción</a:t>
            </a:r>
            <a:endParaRPr/>
          </a:p>
        </p:txBody>
      </p:sp>
      <p:sp>
        <p:nvSpPr>
          <p:cNvPr id="499" name="Google Shape;499;p9"/>
          <p:cNvSpPr/>
          <p:nvPr/>
        </p:nvSpPr>
        <p:spPr>
          <a:xfrm>
            <a:off x="7123562" y="328511"/>
            <a:ext cx="5533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6110547" y="1202404"/>
            <a:ext cx="5533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8191886" y="1507722"/>
            <a:ext cx="5533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502" name="Google Shape;502;p9"/>
          <p:cNvSpPr/>
          <p:nvPr/>
        </p:nvSpPr>
        <p:spPr>
          <a:xfrm>
            <a:off x="8673520" y="2406284"/>
            <a:ext cx="5533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503" name="Google Shape;503;p9"/>
          <p:cNvSpPr/>
          <p:nvPr/>
        </p:nvSpPr>
        <p:spPr>
          <a:xfrm>
            <a:off x="5121907" y="1931787"/>
            <a:ext cx="5533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504" name="Google Shape;504;p9"/>
          <p:cNvSpPr txBox="1"/>
          <p:nvPr/>
        </p:nvSpPr>
        <p:spPr>
          <a:xfrm>
            <a:off x="4804105" y="2342296"/>
            <a:ext cx="1456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i="1" lang="es-MX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Public relations</a:t>
            </a:r>
            <a:endParaRPr/>
          </a:p>
        </p:txBody>
      </p:sp>
      <p:sp>
        <p:nvSpPr>
          <p:cNvPr id="505" name="Google Shape;505;p9"/>
          <p:cNvSpPr txBox="1"/>
          <p:nvPr/>
        </p:nvSpPr>
        <p:spPr>
          <a:xfrm>
            <a:off x="8998486" y="4155419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/>
          </a:p>
        </p:txBody>
      </p:sp>
      <p:sp>
        <p:nvSpPr>
          <p:cNvPr id="506" name="Google Shape;506;p9"/>
          <p:cNvSpPr/>
          <p:nvPr/>
        </p:nvSpPr>
        <p:spPr>
          <a:xfrm>
            <a:off x="9261423" y="3702644"/>
            <a:ext cx="5533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507" name="Google Shape;507;p9"/>
          <p:cNvSpPr/>
          <p:nvPr/>
        </p:nvSpPr>
        <p:spPr>
          <a:xfrm>
            <a:off x="4671932" y="3110719"/>
            <a:ext cx="76282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508" name="Google Shape;508;p9"/>
          <p:cNvSpPr txBox="1"/>
          <p:nvPr/>
        </p:nvSpPr>
        <p:spPr>
          <a:xfrm>
            <a:off x="4556017" y="3548912"/>
            <a:ext cx="1456267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i="1" lang="es-MX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Political Public relations</a:t>
            </a:r>
            <a:endParaRPr/>
          </a:p>
        </p:txBody>
      </p:sp>
      <p:sp>
        <p:nvSpPr>
          <p:cNvPr id="509" name="Google Shape;509;p9"/>
          <p:cNvSpPr/>
          <p:nvPr/>
        </p:nvSpPr>
        <p:spPr>
          <a:xfrm>
            <a:off x="5012625" y="4390539"/>
            <a:ext cx="1398677" cy="1398677"/>
          </a:xfrm>
          <a:prstGeom prst="ellipse">
            <a:avLst/>
          </a:prstGeom>
          <a:solidFill>
            <a:srgbClr val="CC0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9"/>
          <p:cNvSpPr txBox="1"/>
          <p:nvPr/>
        </p:nvSpPr>
        <p:spPr>
          <a:xfrm>
            <a:off x="5120113" y="4929589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Proceso</a:t>
            </a:r>
            <a:endParaRPr/>
          </a:p>
        </p:txBody>
      </p:sp>
      <p:sp>
        <p:nvSpPr>
          <p:cNvPr id="511" name="Google Shape;511;p9"/>
          <p:cNvSpPr/>
          <p:nvPr/>
        </p:nvSpPr>
        <p:spPr>
          <a:xfrm>
            <a:off x="5200859" y="4503226"/>
            <a:ext cx="76282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751229" y="4648422"/>
            <a:ext cx="1398677" cy="139867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"/>
          <p:cNvSpPr txBox="1"/>
          <p:nvPr/>
        </p:nvSpPr>
        <p:spPr>
          <a:xfrm>
            <a:off x="8793992" y="5084515"/>
            <a:ext cx="1456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1"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Physical evidence</a:t>
            </a: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9036699" y="4637730"/>
            <a:ext cx="5533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cxnSp>
        <p:nvCxnSpPr>
          <p:cNvPr id="515" name="Google Shape;515;p9"/>
          <p:cNvCxnSpPr/>
          <p:nvPr/>
        </p:nvCxnSpPr>
        <p:spPr>
          <a:xfrm>
            <a:off x="6218807" y="2665462"/>
            <a:ext cx="357600" cy="124500"/>
          </a:xfrm>
          <a:prstGeom prst="bentConnector3">
            <a:avLst>
              <a:gd fmla="val 49996" name="adj1"/>
            </a:avLst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9"/>
          <p:cNvCxnSpPr>
            <a:endCxn id="488" idx="2"/>
          </p:cNvCxnSpPr>
          <p:nvPr/>
        </p:nvCxnSpPr>
        <p:spPr>
          <a:xfrm>
            <a:off x="7963923" y="4203966"/>
            <a:ext cx="991800" cy="76200"/>
          </a:xfrm>
          <a:prstGeom prst="bentConnector3">
            <a:avLst>
              <a:gd fmla="val 50006" name="adj1"/>
            </a:avLst>
          </a:prstGeom>
          <a:solidFill>
            <a:schemeClr val="accent1"/>
          </a:solidFill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9"/>
          <p:cNvSpPr/>
          <p:nvPr/>
        </p:nvSpPr>
        <p:spPr>
          <a:xfrm>
            <a:off x="4646900" y="278336"/>
            <a:ext cx="16120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las 9 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oogle Shape;522;p10"/>
          <p:cNvGrpSpPr/>
          <p:nvPr/>
        </p:nvGrpSpPr>
        <p:grpSpPr>
          <a:xfrm>
            <a:off x="4552597" y="1189349"/>
            <a:ext cx="4005302" cy="3878149"/>
            <a:chOff x="2133600" y="914400"/>
            <a:chExt cx="4800600" cy="4648200"/>
          </a:xfrm>
        </p:grpSpPr>
        <p:sp>
          <p:nvSpPr>
            <p:cNvPr id="523" name="Google Shape;523;p10"/>
            <p:cNvSpPr/>
            <p:nvPr/>
          </p:nvSpPr>
          <p:spPr>
            <a:xfrm>
              <a:off x="3733800" y="1600200"/>
              <a:ext cx="2133600" cy="2133600"/>
            </a:xfrm>
            <a:prstGeom prst="ellipse">
              <a:avLst/>
            </a:prstGeom>
            <a:solidFill>
              <a:schemeClr val="accent3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4800600" y="3276600"/>
              <a:ext cx="2133600" cy="2133600"/>
            </a:xfrm>
            <a:prstGeom prst="ellipse">
              <a:avLst/>
            </a:prstGeom>
            <a:solidFill>
              <a:schemeClr val="accent5">
                <a:alpha val="5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2514600" y="1676400"/>
              <a:ext cx="1371600" cy="1371600"/>
            </a:xfrm>
            <a:prstGeom prst="ellipse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2133600" y="2971800"/>
              <a:ext cx="1066800" cy="1066800"/>
            </a:xfrm>
            <a:prstGeom prst="ellipse">
              <a:avLst/>
            </a:prstGeom>
            <a:solidFill>
              <a:schemeClr val="accent2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5562600" y="1905000"/>
              <a:ext cx="1066800" cy="1066800"/>
            </a:xfrm>
            <a:prstGeom prst="ellipse">
              <a:avLst/>
            </a:prstGeom>
            <a:solidFill>
              <a:schemeClr val="accent4">
                <a:alpha val="3490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3733800" y="914400"/>
              <a:ext cx="1066800" cy="1066800"/>
            </a:xfrm>
            <a:prstGeom prst="ellipse">
              <a:avLst/>
            </a:prstGeom>
            <a:solidFill>
              <a:schemeClr val="accent6">
                <a:alpha val="3490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2209800" y="3429000"/>
              <a:ext cx="2133600" cy="2133600"/>
            </a:xfrm>
            <a:prstGeom prst="ellipse">
              <a:avLst/>
            </a:prstGeom>
            <a:solidFill>
              <a:srgbClr val="9CC2E5">
                <a:alpha val="5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0" name="Google Shape;530;p10"/>
          <p:cNvSpPr/>
          <p:nvPr/>
        </p:nvSpPr>
        <p:spPr>
          <a:xfrm>
            <a:off x="6613835" y="2544783"/>
            <a:ext cx="1398677" cy="13986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5202041" y="1788735"/>
            <a:ext cx="1398677" cy="139867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0"/>
          <p:cNvSpPr txBox="1"/>
          <p:nvPr/>
        </p:nvSpPr>
        <p:spPr>
          <a:xfrm>
            <a:off x="5179903" y="2293038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Compañía</a:t>
            </a:r>
            <a:endParaRPr/>
          </a:p>
        </p:txBody>
      </p:sp>
      <p:sp>
        <p:nvSpPr>
          <p:cNvPr id="533" name="Google Shape;533;p10"/>
          <p:cNvSpPr/>
          <p:nvPr/>
        </p:nvSpPr>
        <p:spPr>
          <a:xfrm>
            <a:off x="5301113" y="2016039"/>
            <a:ext cx="55175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sz="5400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6613835" y="2758455"/>
            <a:ext cx="551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sz="5400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0"/>
          <p:cNvSpPr txBox="1"/>
          <p:nvPr/>
        </p:nvSpPr>
        <p:spPr>
          <a:xfrm>
            <a:off x="6613835" y="3035454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i="0" lang="es-MX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Competencia</a:t>
            </a:r>
            <a:endParaRPr/>
          </a:p>
        </p:txBody>
      </p:sp>
      <p:sp>
        <p:nvSpPr>
          <p:cNvPr id="536" name="Google Shape;536;p10"/>
          <p:cNvSpPr/>
          <p:nvPr/>
        </p:nvSpPr>
        <p:spPr>
          <a:xfrm>
            <a:off x="5315511" y="3361317"/>
            <a:ext cx="1398677" cy="1398677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0"/>
          <p:cNvSpPr txBox="1"/>
          <p:nvPr/>
        </p:nvSpPr>
        <p:spPr>
          <a:xfrm>
            <a:off x="5358274" y="3933052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Consumidor</a:t>
            </a:r>
            <a:endParaRPr/>
          </a:p>
        </p:txBody>
      </p:sp>
      <p:sp>
        <p:nvSpPr>
          <p:cNvPr id="538" name="Google Shape;538;p10"/>
          <p:cNvSpPr/>
          <p:nvPr/>
        </p:nvSpPr>
        <p:spPr>
          <a:xfrm>
            <a:off x="5394652" y="3652351"/>
            <a:ext cx="551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sz="5400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0"/>
          <p:cNvSpPr/>
          <p:nvPr/>
        </p:nvSpPr>
        <p:spPr>
          <a:xfrm>
            <a:off x="6321682" y="1345276"/>
            <a:ext cx="16120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las 3 </a:t>
            </a: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1"/>
          <p:cNvSpPr/>
          <p:nvPr/>
        </p:nvSpPr>
        <p:spPr>
          <a:xfrm>
            <a:off x="2071399" y="4766085"/>
            <a:ext cx="1398677" cy="1398677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highlight>
                <a:srgbClr val="0000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5" name="Google Shape;545;p11"/>
          <p:cNvGrpSpPr/>
          <p:nvPr/>
        </p:nvGrpSpPr>
        <p:grpSpPr>
          <a:xfrm>
            <a:off x="4384897" y="2735191"/>
            <a:ext cx="3539903" cy="3397258"/>
            <a:chOff x="4093349" y="1867479"/>
            <a:chExt cx="4057958" cy="3990579"/>
          </a:xfrm>
        </p:grpSpPr>
        <p:grpSp>
          <p:nvGrpSpPr>
            <p:cNvPr id="546" name="Google Shape;546;p11"/>
            <p:cNvGrpSpPr/>
            <p:nvPr/>
          </p:nvGrpSpPr>
          <p:grpSpPr>
            <a:xfrm>
              <a:off x="4093349" y="1900743"/>
              <a:ext cx="4005302" cy="3878149"/>
              <a:chOff x="2133600" y="914400"/>
              <a:chExt cx="4800600" cy="4648200"/>
            </a:xfrm>
          </p:grpSpPr>
          <p:sp>
            <p:nvSpPr>
              <p:cNvPr id="547" name="Google Shape;547;p11"/>
              <p:cNvSpPr/>
              <p:nvPr/>
            </p:nvSpPr>
            <p:spPr>
              <a:xfrm>
                <a:off x="3733800" y="1600200"/>
                <a:ext cx="2133600" cy="2133600"/>
              </a:xfrm>
              <a:prstGeom prst="ellipse">
                <a:avLst/>
              </a:prstGeom>
              <a:solidFill>
                <a:schemeClr val="accent3">
                  <a:alpha val="30196"/>
                </a:scheme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11"/>
              <p:cNvSpPr/>
              <p:nvPr/>
            </p:nvSpPr>
            <p:spPr>
              <a:xfrm>
                <a:off x="4800600" y="3276600"/>
                <a:ext cx="2133600" cy="2133600"/>
              </a:xfrm>
              <a:prstGeom prst="ellipse">
                <a:avLst/>
              </a:prstGeom>
              <a:solidFill>
                <a:schemeClr val="accent5">
                  <a:alpha val="50196"/>
                </a:scheme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2514600" y="1676400"/>
                <a:ext cx="1371600" cy="1371600"/>
              </a:xfrm>
              <a:prstGeom prst="ellipse">
                <a:avLst/>
              </a:prstGeom>
              <a:solidFill>
                <a:schemeClr val="accent6">
                  <a:alpha val="30196"/>
                </a:scheme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11"/>
              <p:cNvSpPr/>
              <p:nvPr/>
            </p:nvSpPr>
            <p:spPr>
              <a:xfrm>
                <a:off x="2133600" y="2971800"/>
                <a:ext cx="1066800" cy="1066800"/>
              </a:xfrm>
              <a:prstGeom prst="ellipse">
                <a:avLst/>
              </a:prstGeom>
              <a:solidFill>
                <a:schemeClr val="accent2">
                  <a:alpha val="30196"/>
                </a:scheme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11"/>
              <p:cNvSpPr/>
              <p:nvPr/>
            </p:nvSpPr>
            <p:spPr>
              <a:xfrm>
                <a:off x="5562600" y="1905000"/>
                <a:ext cx="1066800" cy="1066800"/>
              </a:xfrm>
              <a:prstGeom prst="ellipse">
                <a:avLst/>
              </a:prstGeom>
              <a:solidFill>
                <a:schemeClr val="accent4">
                  <a:alpha val="34901"/>
                </a:scheme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3733800" y="914400"/>
                <a:ext cx="1066800" cy="1066800"/>
              </a:xfrm>
              <a:prstGeom prst="ellipse">
                <a:avLst/>
              </a:prstGeom>
              <a:solidFill>
                <a:schemeClr val="accent6">
                  <a:alpha val="34901"/>
                </a:scheme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11"/>
              <p:cNvSpPr/>
              <p:nvPr/>
            </p:nvSpPr>
            <p:spPr>
              <a:xfrm>
                <a:off x="2209800" y="3429000"/>
                <a:ext cx="2133600" cy="2133600"/>
              </a:xfrm>
              <a:prstGeom prst="ellipse">
                <a:avLst/>
              </a:prstGeom>
              <a:solidFill>
                <a:srgbClr val="9CC2E5">
                  <a:alpha val="50196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4" name="Google Shape;554;p11"/>
            <p:cNvSpPr/>
            <p:nvPr/>
          </p:nvSpPr>
          <p:spPr>
            <a:xfrm>
              <a:off x="4107770" y="2988328"/>
              <a:ext cx="1398677" cy="139867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6704603" y="3121853"/>
              <a:ext cx="1398677" cy="13986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5498164" y="1892453"/>
              <a:ext cx="1398677" cy="1398677"/>
            </a:xfrm>
            <a:prstGeom prst="ellipse">
              <a:avLst/>
            </a:prstGeom>
            <a:solidFill>
              <a:srgbClr val="C9E3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1"/>
            <p:cNvSpPr txBox="1"/>
            <p:nvPr/>
          </p:nvSpPr>
          <p:spPr>
            <a:xfrm>
              <a:off x="5469368" y="2383315"/>
              <a:ext cx="14562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Calibri"/>
                <a:buNone/>
              </a:pPr>
              <a:r>
                <a:rPr b="1" lang="es-MX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Producto</a:t>
              </a:r>
              <a:endParaRPr/>
            </a:p>
          </p:txBody>
        </p:sp>
        <p:sp>
          <p:nvSpPr>
            <p:cNvPr id="558" name="Google Shape;558;p11"/>
            <p:cNvSpPr txBox="1"/>
            <p:nvPr/>
          </p:nvSpPr>
          <p:spPr>
            <a:xfrm>
              <a:off x="4093349" y="3470486"/>
              <a:ext cx="14562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Calibri"/>
                <a:buNone/>
              </a:pPr>
              <a:r>
                <a:rPr b="1" lang="es-MX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Precio</a:t>
              </a:r>
              <a:endParaRPr/>
            </a:p>
          </p:txBody>
        </p:sp>
        <p:sp>
          <p:nvSpPr>
            <p:cNvPr id="559" name="Google Shape;559;p11"/>
            <p:cNvSpPr txBox="1"/>
            <p:nvPr/>
          </p:nvSpPr>
          <p:spPr>
            <a:xfrm>
              <a:off x="6695040" y="3645135"/>
              <a:ext cx="14562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Calibri"/>
                <a:buNone/>
              </a:pPr>
              <a:r>
                <a:rPr b="1" lang="es-MX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Plaza</a:t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5549027" y="4459381"/>
              <a:ext cx="1398677" cy="13986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1"/>
            <p:cNvSpPr txBox="1"/>
            <p:nvPr/>
          </p:nvSpPr>
          <p:spPr>
            <a:xfrm>
              <a:off x="5511257" y="4974054"/>
              <a:ext cx="14562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800"/>
                <a:buFont typeface="Calibri"/>
                <a:buNone/>
              </a:pPr>
              <a:r>
                <a:rPr b="1" lang="es-MX"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Promoción</a:t>
              </a:r>
              <a:endParaRPr/>
            </a:p>
          </p:txBody>
        </p:sp>
        <p:cxnSp>
          <p:nvCxnSpPr>
            <p:cNvPr id="562" name="Google Shape;562;p11"/>
            <p:cNvCxnSpPr>
              <a:stCxn id="554" idx="0"/>
            </p:cNvCxnSpPr>
            <p:nvPr/>
          </p:nvCxnSpPr>
          <p:spPr>
            <a:xfrm rot="-5400000">
              <a:off x="4890209" y="2346028"/>
              <a:ext cx="559200" cy="725400"/>
            </a:xfrm>
            <a:prstGeom prst="bentConnector2">
              <a:avLst/>
            </a:prstGeom>
            <a:solidFill>
              <a:schemeClr val="accent1"/>
            </a:solidFill>
            <a:ln cap="flat" cmpd="sng" w="152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3" name="Google Shape;563;p11"/>
            <p:cNvCxnSpPr>
              <a:stCxn id="554" idx="4"/>
              <a:endCxn id="561" idx="1"/>
            </p:cNvCxnSpPr>
            <p:nvPr/>
          </p:nvCxnSpPr>
          <p:spPr>
            <a:xfrm flipH="1" rot="-5400000">
              <a:off x="4773359" y="4420755"/>
              <a:ext cx="771600" cy="704100"/>
            </a:xfrm>
            <a:prstGeom prst="bentConnector2">
              <a:avLst/>
            </a:prstGeom>
            <a:solidFill>
              <a:schemeClr val="accent1"/>
            </a:solidFill>
            <a:ln cap="flat" cmpd="sng" w="152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4" name="Google Shape;564;p11"/>
            <p:cNvCxnSpPr>
              <a:stCxn id="561" idx="3"/>
              <a:endCxn id="555" idx="4"/>
            </p:cNvCxnSpPr>
            <p:nvPr/>
          </p:nvCxnSpPr>
          <p:spPr>
            <a:xfrm flipH="1" rot="10800000">
              <a:off x="6967524" y="4520620"/>
              <a:ext cx="436500" cy="638100"/>
            </a:xfrm>
            <a:prstGeom prst="bentConnector2">
              <a:avLst/>
            </a:prstGeom>
            <a:solidFill>
              <a:schemeClr val="accent1"/>
            </a:solidFill>
            <a:ln cap="flat" cmpd="sng" w="152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5" name="Google Shape;565;p11"/>
            <p:cNvCxnSpPr>
              <a:stCxn id="557" idx="3"/>
              <a:endCxn id="555" idx="0"/>
            </p:cNvCxnSpPr>
            <p:nvPr/>
          </p:nvCxnSpPr>
          <p:spPr>
            <a:xfrm>
              <a:off x="6925635" y="2567981"/>
              <a:ext cx="478200" cy="553800"/>
            </a:xfrm>
            <a:prstGeom prst="bentConnector2">
              <a:avLst/>
            </a:prstGeom>
            <a:solidFill>
              <a:schemeClr val="accent1"/>
            </a:solidFill>
            <a:ln cap="flat" cmpd="sng" w="152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6" name="Google Shape;566;p11"/>
            <p:cNvSpPr/>
            <p:nvPr/>
          </p:nvSpPr>
          <p:spPr>
            <a:xfrm>
              <a:off x="5579034" y="1867479"/>
              <a:ext cx="55335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5400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4363203" y="2962766"/>
              <a:ext cx="55335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5400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7006248" y="3088589"/>
              <a:ext cx="55335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5400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5533460" y="4451973"/>
              <a:ext cx="55335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5400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5219559" y="3597595"/>
              <a:ext cx="1612046" cy="614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4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Mezcla de Mercadotecnia</a:t>
              </a:r>
              <a:endParaRPr/>
            </a:p>
          </p:txBody>
        </p:sp>
      </p:grpSp>
      <p:sp>
        <p:nvSpPr>
          <p:cNvPr id="571" name="Google Shape;571;p11"/>
          <p:cNvSpPr txBox="1"/>
          <p:nvPr/>
        </p:nvSpPr>
        <p:spPr>
          <a:xfrm>
            <a:off x="3274186" y="1006120"/>
            <a:ext cx="45507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de las 4 P´s a las 4 C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1"/>
          <p:cNvSpPr/>
          <p:nvPr/>
        </p:nvSpPr>
        <p:spPr>
          <a:xfrm>
            <a:off x="2204011" y="2551283"/>
            <a:ext cx="1398677" cy="13986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" name="Google Shape;573;p11"/>
          <p:cNvGrpSpPr/>
          <p:nvPr/>
        </p:nvGrpSpPr>
        <p:grpSpPr>
          <a:xfrm>
            <a:off x="7621314" y="1493279"/>
            <a:ext cx="1456267" cy="1398677"/>
            <a:chOff x="409117" y="1892453"/>
            <a:chExt cx="1456267" cy="1398677"/>
          </a:xfrm>
        </p:grpSpPr>
        <p:sp>
          <p:nvSpPr>
            <p:cNvPr id="574" name="Google Shape;574;p11"/>
            <p:cNvSpPr/>
            <p:nvPr/>
          </p:nvSpPr>
          <p:spPr>
            <a:xfrm>
              <a:off x="433014" y="1892453"/>
              <a:ext cx="1398677" cy="1398677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1"/>
            <p:cNvSpPr txBox="1"/>
            <p:nvPr/>
          </p:nvSpPr>
          <p:spPr>
            <a:xfrm>
              <a:off x="409117" y="2293038"/>
              <a:ext cx="14562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800"/>
                <a:buFont typeface="Calibri"/>
                <a:buNone/>
              </a:pPr>
              <a:r>
                <a:rPr b="1" lang="es-MX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Co-creación</a:t>
              </a:r>
              <a:endParaRPr b="1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450815" y="2016039"/>
              <a:ext cx="551753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54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sz="5400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7" name="Google Shape;577;p11"/>
          <p:cNvSpPr/>
          <p:nvPr/>
        </p:nvSpPr>
        <p:spPr>
          <a:xfrm>
            <a:off x="2523798" y="2581234"/>
            <a:ext cx="551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sz="5400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1"/>
          <p:cNvSpPr txBox="1"/>
          <p:nvPr/>
        </p:nvSpPr>
        <p:spPr>
          <a:xfrm>
            <a:off x="2204011" y="2903455"/>
            <a:ext cx="1456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i="0" lang="es-MX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Coin o moneda</a:t>
            </a:r>
            <a:endParaRPr/>
          </a:p>
        </p:txBody>
      </p:sp>
      <p:sp>
        <p:nvSpPr>
          <p:cNvPr id="579" name="Google Shape;579;p11"/>
          <p:cNvSpPr/>
          <p:nvPr/>
        </p:nvSpPr>
        <p:spPr>
          <a:xfrm>
            <a:off x="8694915" y="4700659"/>
            <a:ext cx="1398677" cy="1398677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1"/>
          <p:cNvSpPr txBox="1"/>
          <p:nvPr/>
        </p:nvSpPr>
        <p:spPr>
          <a:xfrm>
            <a:off x="8737678" y="5133895"/>
            <a:ext cx="1456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Activación comunal</a:t>
            </a:r>
            <a:endParaRPr/>
          </a:p>
        </p:txBody>
      </p:sp>
      <p:sp>
        <p:nvSpPr>
          <p:cNvPr id="581" name="Google Shape;581;p11"/>
          <p:cNvSpPr/>
          <p:nvPr/>
        </p:nvSpPr>
        <p:spPr>
          <a:xfrm>
            <a:off x="8893324" y="5163969"/>
            <a:ext cx="551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sz="5400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1"/>
          <p:cNvSpPr/>
          <p:nvPr/>
        </p:nvSpPr>
        <p:spPr>
          <a:xfrm>
            <a:off x="2030626" y="5003758"/>
            <a:ext cx="551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sz="5400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1"/>
          <p:cNvSpPr txBox="1"/>
          <p:nvPr/>
        </p:nvSpPr>
        <p:spPr>
          <a:xfrm>
            <a:off x="2067204" y="5280757"/>
            <a:ext cx="1456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conversación</a:t>
            </a:r>
            <a:endParaRPr/>
          </a:p>
        </p:txBody>
      </p:sp>
      <p:cxnSp>
        <p:nvCxnSpPr>
          <p:cNvPr id="584" name="Google Shape;584;p11"/>
          <p:cNvCxnSpPr>
            <a:stCxn id="556" idx="0"/>
            <a:endCxn id="576" idx="1"/>
          </p:cNvCxnSpPr>
          <p:nvPr/>
        </p:nvCxnSpPr>
        <p:spPr>
          <a:xfrm rot="-5400000">
            <a:off x="6602776" y="1696102"/>
            <a:ext cx="678000" cy="1442700"/>
          </a:xfrm>
          <a:prstGeom prst="curvedConnector2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5" name="Google Shape;585;p11"/>
          <p:cNvCxnSpPr>
            <a:stCxn id="554" idx="1"/>
          </p:cNvCxnSpPr>
          <p:nvPr/>
        </p:nvCxnSpPr>
        <p:spPr>
          <a:xfrm flipH="1" rot="5400000">
            <a:off x="3744709" y="3032319"/>
            <a:ext cx="689400" cy="973500"/>
          </a:xfrm>
          <a:prstGeom prst="curvedConnector2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6" name="Google Shape;586;p11"/>
          <p:cNvCxnSpPr>
            <a:stCxn id="559" idx="3"/>
            <a:endCxn id="579" idx="0"/>
          </p:cNvCxnSpPr>
          <p:nvPr/>
        </p:nvCxnSpPr>
        <p:spPr>
          <a:xfrm>
            <a:off x="7924800" y="4405754"/>
            <a:ext cx="1469400" cy="2949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7" name="Google Shape;587;p11"/>
          <p:cNvCxnSpPr>
            <a:endCxn id="544" idx="0"/>
          </p:cNvCxnSpPr>
          <p:nvPr/>
        </p:nvCxnSpPr>
        <p:spPr>
          <a:xfrm rot="10800000">
            <a:off x="2770738" y="4766085"/>
            <a:ext cx="2814600" cy="771000"/>
          </a:xfrm>
          <a:prstGeom prst="curvedConnector4">
            <a:avLst>
              <a:gd fmla="val 37578" name="adj1"/>
              <a:gd fmla="val 12965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2020-03-01T04:01:17Z</dcterms:created>
  <dc:creator>AraSan</dc:creator>
</cp:coreProperties>
</file>